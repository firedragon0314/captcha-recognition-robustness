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Fira Sans" panose="020B0503050000020004" pitchFamily="34" charset="0"/>
      <p:regular r:id="rId20"/>
    </p:embeddedFont>
    <p:embeddedFont>
      <p:font typeface="Fira Sans Bold" panose="02020500000000000000" charset="0"/>
      <p:regular r:id="rId21"/>
    </p:embeddedFont>
    <p:embeddedFont>
      <p:font typeface="Fira Sans Light" panose="020B0403050000020004" pitchFamily="34" charset="0"/>
      <p:regular r:id="rId22"/>
    </p:embeddedFont>
    <p:embeddedFont>
      <p:font typeface="Fira Sans Medium" panose="020B06030500000200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7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007226"/>
            <a:ext cx="10202605" cy="4959943"/>
            <a:chOff x="0" y="0"/>
            <a:chExt cx="13603473" cy="6613258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3603473" cy="5660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Robust CAPTCHA Recognition under Corrupted Conditions:</a:t>
              </a:r>
            </a:p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Sequence-based</a:t>
              </a:r>
            </a:p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Recognition vs Position-wise Character Classification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90486"/>
              <a:ext cx="13603473" cy="62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112503519盛正璿  112503503吳睿嬛  112503513葉俊廷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28902" y="2317173"/>
            <a:ext cx="7321033" cy="6340049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2122944" y="7035126"/>
            <a:ext cx="4970154" cy="43041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336342" y="5954842"/>
            <a:ext cx="2271679" cy="1967285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737770" y="373605"/>
            <a:ext cx="3799619" cy="3290488"/>
            <a:chOff x="0" y="0"/>
            <a:chExt cx="3619627" cy="31346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28700" y="1028700"/>
            <a:ext cx="4212844" cy="586200"/>
            <a:chOff x="0" y="0"/>
            <a:chExt cx="5617125" cy="781600"/>
          </a:xfrm>
        </p:grpSpPr>
        <p:sp>
          <p:nvSpPr>
            <p:cNvPr id="14" name="TextBox 14"/>
            <p:cNvSpPr txBox="1"/>
            <p:nvPr/>
          </p:nvSpPr>
          <p:spPr>
            <a:xfrm>
              <a:off x="1293956" y="104399"/>
              <a:ext cx="4323169" cy="525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Deep Learning Programming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905010" cy="781600"/>
            </a:xfrm>
            <a:custGeom>
              <a:avLst/>
              <a:gdLst/>
              <a:ahLst/>
              <a:cxnLst/>
              <a:rect l="l" t="t" r="r" b="b"/>
              <a:pathLst>
                <a:path w="905010" h="781600">
                  <a:moveTo>
                    <a:pt x="0" y="0"/>
                  </a:moveTo>
                  <a:lnTo>
                    <a:pt x="905010" y="0"/>
                  </a:lnTo>
                  <a:lnTo>
                    <a:pt x="905010" y="781600"/>
                  </a:lnTo>
                  <a:lnTo>
                    <a:pt x="0" y="7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7743" y="-89986"/>
            <a:ext cx="10138115" cy="8779655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505679" y="5832746"/>
            <a:ext cx="5966980" cy="5167433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4081198"/>
            <a:ext cx="4460469" cy="128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99"/>
              </a:lnSpc>
              <a:spcBef>
                <a:spcPct val="0"/>
              </a:spcBef>
            </a:pPr>
            <a:r>
              <a:rPr lang="en-US" sz="8499" b="1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92884" y="1604347"/>
            <a:ext cx="6109328" cy="47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000" dirty="0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Project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92884" y="2318578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Dataset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92884" y="3738510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92884" y="4452741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92884" y="5166972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92884" y="3028544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200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92884" y="5876939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Results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2884" y="6591170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Before/After Restoration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92884" y="7305401"/>
            <a:ext cx="6109328" cy="4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8743" y="4201140"/>
            <a:ext cx="7027514" cy="6085860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106823" y="563974"/>
            <a:ext cx="4961246" cy="4296462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4212844" cy="586200"/>
            <a:chOff x="0" y="0"/>
            <a:chExt cx="5617125" cy="781600"/>
          </a:xfrm>
        </p:grpSpPr>
        <p:sp>
          <p:nvSpPr>
            <p:cNvPr id="9" name="TextBox 9"/>
            <p:cNvSpPr txBox="1"/>
            <p:nvPr/>
          </p:nvSpPr>
          <p:spPr>
            <a:xfrm>
              <a:off x="1293956" y="104399"/>
              <a:ext cx="4323169" cy="525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Deep Learning Programming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905010" cy="781600"/>
            </a:xfrm>
            <a:custGeom>
              <a:avLst/>
              <a:gdLst/>
              <a:ahLst/>
              <a:cxnLst/>
              <a:rect l="l" t="t" r="r" b="b"/>
              <a:pathLst>
                <a:path w="905010" h="781600">
                  <a:moveTo>
                    <a:pt x="0" y="0"/>
                  </a:moveTo>
                  <a:lnTo>
                    <a:pt x="905010" y="0"/>
                  </a:lnTo>
                  <a:lnTo>
                    <a:pt x="905010" y="781600"/>
                  </a:lnTo>
                  <a:lnTo>
                    <a:pt x="0" y="7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2328685"/>
            <a:ext cx="7784689" cy="98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sz="6399" b="1" spc="-6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766947"/>
            <a:ext cx="9762858" cy="2112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1"/>
              </a:lnSpc>
            </a:pPr>
            <a:r>
              <a:rPr lang="en-US" sz="2200" dirty="0">
                <a:solidFill>
                  <a:srgbClr val="000000"/>
                </a:solidFill>
                <a:latin typeface="Fira Sans Light"/>
                <a:sym typeface="29LT Massira"/>
              </a:rPr>
              <a:t>CAPTCHA is a common human-verification system. After corruption, can deep learning models restore the image and recognize it correctly?</a:t>
            </a:r>
          </a:p>
          <a:p>
            <a:pPr algn="just">
              <a:lnSpc>
                <a:spcPts val="4211"/>
              </a:lnSpc>
            </a:pPr>
            <a:r>
              <a:rPr lang="en-US" sz="2200" dirty="0">
                <a:solidFill>
                  <a:srgbClr val="000000"/>
                </a:solidFill>
                <a:latin typeface="Fira Sans Light"/>
                <a:sym typeface="29LT Massira"/>
              </a:rPr>
              <a:t>We build clean, dirty, and restored datasets to compare model performance and test whether restoration improves downstream recognition robustness.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3366" y="6619710"/>
            <a:ext cx="3364925" cy="4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55829" y="6665746"/>
            <a:ext cx="5350372" cy="42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Data prep, corruption, restoration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3366" y="7672689"/>
            <a:ext cx="3364925" cy="4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55829" y="7196445"/>
            <a:ext cx="7150994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CRNN / Transformer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sequence recognition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3366" y="8993984"/>
            <a:ext cx="3678891" cy="4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74878" y="8644069"/>
            <a:ext cx="60352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CNN multi-head classifier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position-wise classification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Project Plan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2616" y="6657420"/>
            <a:ext cx="53503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吳睿嬛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2616" y="7718743"/>
            <a:ext cx="53503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葉俊廷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2616" y="9079217"/>
            <a:ext cx="53503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盛正璿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1102616" y="7153110"/>
            <a:ext cx="94594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1102616" y="8514070"/>
            <a:ext cx="94594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6">
            <a:extLst>
              <a:ext uri="{FF2B5EF4-FFF2-40B4-BE49-F238E27FC236}">
                <a16:creationId xmlns:a16="http://schemas.microsoft.com/office/drawing/2014/main" id="{1A38F624-7E81-ADEB-15BC-73C7C0682182}"/>
              </a:ext>
            </a:extLst>
          </p:cNvPr>
          <p:cNvGrpSpPr/>
          <p:nvPr/>
        </p:nvGrpSpPr>
        <p:grpSpPr>
          <a:xfrm>
            <a:off x="11289670" y="2487962"/>
            <a:ext cx="7611546" cy="6591255"/>
            <a:chOff x="0" y="0"/>
            <a:chExt cx="4282440" cy="37084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0C447AD-6ABB-36B7-18D7-3B5EBBEB85A3}"/>
                </a:ext>
              </a:extLst>
            </p:cNvPr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r="-2989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99111" y="2687862"/>
            <a:ext cx="2977778" cy="2578770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660090" y="-135282"/>
            <a:ext cx="4201515" cy="3638531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243939" y="-956153"/>
            <a:ext cx="2481390" cy="2148895"/>
            <a:chOff x="0" y="0"/>
            <a:chExt cx="3619627" cy="31346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087600" y="4497656"/>
            <a:ext cx="4101201" cy="1537950"/>
          </a:xfrm>
          <a:custGeom>
            <a:avLst/>
            <a:gdLst/>
            <a:ahLst/>
            <a:cxnLst/>
            <a:rect l="l" t="t" r="r" b="b"/>
            <a:pathLst>
              <a:path w="4101201" h="1537950">
                <a:moveTo>
                  <a:pt x="0" y="0"/>
                </a:moveTo>
                <a:lnTo>
                  <a:pt x="4101200" y="0"/>
                </a:lnTo>
                <a:lnTo>
                  <a:pt x="4101200" y="1537951"/>
                </a:lnTo>
                <a:lnTo>
                  <a:pt x="0" y="1537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27025" y="4497656"/>
            <a:ext cx="4101201" cy="1537950"/>
          </a:xfrm>
          <a:custGeom>
            <a:avLst/>
            <a:gdLst/>
            <a:ahLst/>
            <a:cxnLst/>
            <a:rect l="l" t="t" r="r" b="b"/>
            <a:pathLst>
              <a:path w="4101201" h="1537950">
                <a:moveTo>
                  <a:pt x="0" y="0"/>
                </a:moveTo>
                <a:lnTo>
                  <a:pt x="4101201" y="0"/>
                </a:lnTo>
                <a:lnTo>
                  <a:pt x="4101201" y="1537951"/>
                </a:lnTo>
                <a:lnTo>
                  <a:pt x="0" y="1537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193338" y="4374525"/>
            <a:ext cx="4101201" cy="1537950"/>
          </a:xfrm>
          <a:custGeom>
            <a:avLst/>
            <a:gdLst/>
            <a:ahLst/>
            <a:cxnLst/>
            <a:rect l="l" t="t" r="r" b="b"/>
            <a:pathLst>
              <a:path w="4101201" h="1537950">
                <a:moveTo>
                  <a:pt x="0" y="0"/>
                </a:moveTo>
                <a:lnTo>
                  <a:pt x="4101201" y="0"/>
                </a:lnTo>
                <a:lnTo>
                  <a:pt x="4101201" y="1537950"/>
                </a:lnTo>
                <a:lnTo>
                  <a:pt x="0" y="1537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028700" y="2421162"/>
            <a:ext cx="11398779" cy="14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26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We use 5-character CAPTCHA images with uppercase letters and digits</a:t>
            </a:r>
          </a:p>
          <a:p>
            <a:pPr algn="l">
              <a:lnSpc>
                <a:spcPts val="6020"/>
              </a:lnSpc>
            </a:pPr>
            <a:r>
              <a:rPr lang="en-US" sz="26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Filename example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43164" y="3403487"/>
            <a:ext cx="8776234" cy="45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YN040 after the underscore is the image label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7520" y="3353381"/>
            <a:ext cx="3364925" cy="55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13_YN040.png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926443"/>
            <a:ext cx="12215239" cy="162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normal image: original CAPTCHA image</a:t>
            </a:r>
          </a:p>
          <a:p>
            <a:pPr algn="l">
              <a:lnSpc>
                <a:spcPts val="4400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corrupted image: normal image with added corruption; also called a dirty image</a:t>
            </a:r>
          </a:p>
          <a:p>
            <a:pPr algn="l">
              <a:lnSpc>
                <a:spcPts val="4400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clean image: a clean CAPTCHA regenerated from the same label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019175"/>
            <a:ext cx="5699080" cy="92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6000" b="1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Dataset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7241307" cy="98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000" b="1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Workflow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74859" cy="5372100"/>
            </a:xfrm>
            <a:custGeom>
              <a:avLst/>
              <a:gdLst/>
              <a:ahLst/>
              <a:cxnLst/>
              <a:rect l="l" t="t" r="r" b="b"/>
              <a:pathLst>
                <a:path w="8474859" h="5372100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59443" y="-865713"/>
            <a:ext cx="2695438" cy="2334501"/>
            <a:chOff x="0" y="0"/>
            <a:chExt cx="6202680" cy="5372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7" name="AutoShape 7"/>
          <p:cNvSpPr/>
          <p:nvPr/>
        </p:nvSpPr>
        <p:spPr>
          <a:xfrm>
            <a:off x="2158038" y="5932357"/>
            <a:ext cx="16129956" cy="9525"/>
          </a:xfrm>
          <a:prstGeom prst="line">
            <a:avLst/>
          </a:prstGeom>
          <a:ln w="19050" cap="rnd">
            <a:solidFill>
              <a:srgbClr val="00465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02615" y="6381906"/>
            <a:ext cx="3291050" cy="2056953"/>
            <a:chOff x="0" y="0"/>
            <a:chExt cx="4388067" cy="2742604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4388067" cy="75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39"/>
                </a:lnSpc>
                <a:spcBef>
                  <a:spcPct val="0"/>
                </a:spcBef>
              </a:pPr>
              <a:r>
                <a:rPr lang="en-US" sz="3699" b="1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Clean CAPTCHA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99765"/>
              <a:ext cx="3895570" cy="1642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5-character labels: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A-Z + 0-9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95258" y="6381906"/>
            <a:ext cx="2478430" cy="2876394"/>
            <a:chOff x="0" y="0"/>
            <a:chExt cx="3304574" cy="383519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3304574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Corruption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74690"/>
              <a:ext cx="3304574" cy="2760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noise / blur / rotation / interference / occlusion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67842" y="6381906"/>
            <a:ext cx="2921677" cy="2038147"/>
            <a:chOff x="0" y="0"/>
            <a:chExt cx="3895570" cy="271752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3895570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Restoration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74690"/>
              <a:ext cx="3895570" cy="1642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DAE / DnCNN: 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dirty -&gt; restored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65769" y="6381906"/>
            <a:ext cx="2921677" cy="2457270"/>
            <a:chOff x="0" y="0"/>
            <a:chExt cx="3895570" cy="327636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3895570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Recognition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074690"/>
              <a:ext cx="3895570" cy="2201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B sequence model and C position-wise model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158038" y="5767729"/>
            <a:ext cx="380203" cy="329258"/>
            <a:chOff x="0" y="0"/>
            <a:chExt cx="3619627" cy="31346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554270" y="5777254"/>
            <a:ext cx="380203" cy="329258"/>
            <a:chOff x="0" y="0"/>
            <a:chExt cx="3619627" cy="31346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953898" y="5804217"/>
            <a:ext cx="380203" cy="329258"/>
            <a:chOff x="0" y="0"/>
            <a:chExt cx="3619627" cy="31346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352000" y="5767729"/>
            <a:ext cx="380203" cy="329258"/>
            <a:chOff x="0" y="0"/>
            <a:chExt cx="3619627" cy="31346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4663697" y="6381906"/>
            <a:ext cx="2921677" cy="2457270"/>
            <a:chOff x="0" y="0"/>
            <a:chExt cx="3895570" cy="327636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9525"/>
              <a:ext cx="3895570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Robustness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74690"/>
              <a:ext cx="3895570" cy="2201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drop under corruption and gain after restoration</a:t>
              </a:r>
            </a:p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lang="en-US" sz="23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750102" y="5767729"/>
            <a:ext cx="380203" cy="329258"/>
            <a:chOff x="0" y="0"/>
            <a:chExt cx="3619627" cy="313461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28700" y="2890605"/>
            <a:ext cx="13434478" cy="142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9"/>
              </a:lnSpc>
            </a:pPr>
            <a:r>
              <a:rPr lang="en-US" sz="2600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same CAPTCHA batch is compared under three input states.</a:t>
            </a:r>
          </a:p>
          <a:p>
            <a:pPr>
              <a:lnSpc>
                <a:spcPts val="3779"/>
              </a:lnSpc>
            </a:pPr>
            <a:r>
              <a:rPr lang="en-US" sz="2600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clean/original: an uncorrupted reference baseline; dirty: a stress-test input with added corruption; restored: used to check whether restoration recovers recognition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04383"/>
            <a:ext cx="14766361" cy="2475165"/>
            <a:chOff x="0" y="0"/>
            <a:chExt cx="19688481" cy="3300220"/>
          </a:xfrm>
        </p:grpSpPr>
        <p:sp>
          <p:nvSpPr>
            <p:cNvPr id="3" name="TextBox 3"/>
            <p:cNvSpPr txBox="1"/>
            <p:nvPr/>
          </p:nvSpPr>
          <p:spPr>
            <a:xfrm>
              <a:off x="0" y="2566752"/>
              <a:ext cx="19688481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Image Restoration and Data Preparation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688481" cy="210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1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Module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63094" y="6077994"/>
            <a:ext cx="6383425" cy="5528076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71665" y="7004492"/>
            <a:ext cx="3034530" cy="262791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53492" y="8956750"/>
            <a:ext cx="2141618" cy="185465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5512745" cy="122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sz="8000" b="1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A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7072111" y="1494972"/>
            <a:ext cx="9717879" cy="129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A turns CAPTCHA into a controlled robustness problem: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generate corruption, then use a restoration model to preserve character structure.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083381" y="3051059"/>
          <a:ext cx="9717879" cy="4964841"/>
        </p:xfrm>
        <a:graphic>
          <a:graphicData uri="http://schemas.openxmlformats.org/drawingml/2006/table">
            <a:tbl>
              <a:tblPr/>
              <a:tblGrid>
                <a:gridCol w="287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27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51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DnCNN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45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data pair - 1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dirty → 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7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data pair - 2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normal → 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832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04383"/>
            <a:ext cx="14766361" cy="2475165"/>
            <a:chOff x="0" y="0"/>
            <a:chExt cx="19688481" cy="3300220"/>
          </a:xfrm>
        </p:grpSpPr>
        <p:sp>
          <p:nvSpPr>
            <p:cNvPr id="3" name="TextBox 3"/>
            <p:cNvSpPr txBox="1"/>
            <p:nvPr/>
          </p:nvSpPr>
          <p:spPr>
            <a:xfrm>
              <a:off x="0" y="2566752"/>
              <a:ext cx="19688481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CRNN: sequence-based CAPTCHA recognition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688481" cy="210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1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Module B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63094" y="6077994"/>
            <a:ext cx="6383425" cy="5528076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71665" y="7004492"/>
            <a:ext cx="3034530" cy="262791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53492" y="8956750"/>
            <a:ext cx="2141618" cy="185465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5512745" cy="122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sz="8000" b="1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B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7083381" y="1714500"/>
            <a:ext cx="9717879" cy="131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B assumes CAPTCHA characters cannot always be segmented </a:t>
            </a:r>
            <a:r>
              <a:rPr lang="en-US" sz="2400" dirty="0" err="1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reliably,so</a:t>
            </a:r>
            <a:r>
              <a:rPr lang="en-US" sz="2400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it treats the whole image as a sequence recognition problem.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695802"/>
              </p:ext>
            </p:extLst>
          </p:nvPr>
        </p:nvGraphicFramePr>
        <p:xfrm>
          <a:off x="7083381" y="3051059"/>
          <a:ext cx="9717879" cy="4963471"/>
        </p:xfrm>
        <a:graphic>
          <a:graphicData uri="http://schemas.openxmlformats.org/drawingml/2006/table">
            <a:tbl>
              <a:tblPr/>
              <a:tblGrid>
                <a:gridCol w="287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CRNN + CTC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CNN + Transformer Encoder + CTC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83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B-specific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char, seq, edit, failure cases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04383"/>
            <a:ext cx="14766361" cy="2475165"/>
            <a:chOff x="0" y="0"/>
            <a:chExt cx="19688481" cy="3300220"/>
          </a:xfrm>
        </p:grpSpPr>
        <p:sp>
          <p:nvSpPr>
            <p:cNvPr id="3" name="TextBox 3"/>
            <p:cNvSpPr txBox="1"/>
            <p:nvPr/>
          </p:nvSpPr>
          <p:spPr>
            <a:xfrm>
              <a:off x="0" y="2566752"/>
              <a:ext cx="19688481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CNN multi-head classifier: position-wise character classification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688481" cy="210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1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Module C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63094" y="6077994"/>
            <a:ext cx="6383425" cy="5528076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71665" y="7004492"/>
            <a:ext cx="3034530" cy="262791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53492" y="8956750"/>
            <a:ext cx="2141618" cy="185465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5512745" cy="122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sz="8000" b="1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C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7083381" y="1527187"/>
            <a:ext cx="9717879" cy="129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C treats CAPTCHA as a fixed five-character string.</a:t>
            </a:r>
          </a:p>
          <a:p>
            <a:pPr algn="l">
              <a:lnSpc>
                <a:spcPts val="3499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 shared encoder extracts features; five classification heads predict characters 1 through 5.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083381" y="3051059"/>
          <a:ext cx="9717879" cy="4963471"/>
        </p:xfrm>
        <a:graphic>
          <a:graphicData uri="http://schemas.openxmlformats.org/drawingml/2006/table">
            <a:tbl>
              <a:tblPr/>
              <a:tblGrid>
                <a:gridCol w="287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Pure Multi-head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STN + ResNet18 + Multi-head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83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28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C-specific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per-position, char, seq, edit, failure 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04383"/>
            <a:ext cx="14766361" cy="2475165"/>
            <a:chOff x="0" y="0"/>
            <a:chExt cx="19688481" cy="3300220"/>
          </a:xfrm>
        </p:grpSpPr>
        <p:sp>
          <p:nvSpPr>
            <p:cNvPr id="3" name="TextBox 3"/>
            <p:cNvSpPr txBox="1"/>
            <p:nvPr/>
          </p:nvSpPr>
          <p:spPr>
            <a:xfrm>
              <a:off x="0" y="2566752"/>
              <a:ext cx="19688481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DnCNN restoration quality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688481" cy="210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1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Module A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63094" y="6077994"/>
            <a:ext cx="6383425" cy="5528076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71665" y="7004492"/>
            <a:ext cx="3034530" cy="262791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53492" y="8956750"/>
            <a:ext cx="2141618" cy="185465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1550"/>
            <a:ext cx="9513859" cy="96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sz="5999" b="1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A Results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74859" cy="5372100"/>
            </a:xfrm>
            <a:custGeom>
              <a:avLst/>
              <a:gdLst/>
              <a:ahLst/>
              <a:cxnLst/>
              <a:rect l="l" t="t" r="r" b="b"/>
              <a:pathLst>
                <a:path w="8474859" h="5372100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59443" y="-865713"/>
            <a:ext cx="2695438" cy="2334501"/>
            <a:chOff x="0" y="0"/>
            <a:chExt cx="6202680" cy="5372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028700" y="3696730"/>
            <a:ext cx="10750304" cy="6020170"/>
          </a:xfrm>
          <a:custGeom>
            <a:avLst/>
            <a:gdLst/>
            <a:ahLst/>
            <a:cxnLst/>
            <a:rect l="l" t="t" r="r" b="b"/>
            <a:pathLst>
              <a:path w="10750304" h="6020170">
                <a:moveTo>
                  <a:pt x="0" y="0"/>
                </a:moveTo>
                <a:lnTo>
                  <a:pt x="10750304" y="0"/>
                </a:lnTo>
                <a:lnTo>
                  <a:pt x="10750304" y="6020170"/>
                </a:lnTo>
                <a:lnTo>
                  <a:pt x="0" y="6020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240886"/>
            <a:ext cx="13434478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M1 is the restoration model best suited for downstream recognition.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M3 is next best; M2/M4 and normal-&gt;clean models provide limited recognition gains.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04383"/>
            <a:ext cx="14766361" cy="2475165"/>
            <a:chOff x="0" y="0"/>
            <a:chExt cx="19688481" cy="3300220"/>
          </a:xfrm>
        </p:grpSpPr>
        <p:sp>
          <p:nvSpPr>
            <p:cNvPr id="3" name="TextBox 3"/>
            <p:cNvSpPr txBox="1"/>
            <p:nvPr/>
          </p:nvSpPr>
          <p:spPr>
            <a:xfrm>
              <a:off x="0" y="2566752"/>
              <a:ext cx="19688481" cy="733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recognition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688481" cy="2108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1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Module B/C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63094" y="6077994"/>
            <a:ext cx="6383425" cy="5528076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71665" y="7004492"/>
            <a:ext cx="3034530" cy="2627917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053492" y="8956750"/>
            <a:ext cx="2141618" cy="1854652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1550"/>
            <a:ext cx="10325100" cy="954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sz="5400" b="1" spc="-59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 B/C Results (Normal)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74859" cy="5372100"/>
            </a:xfrm>
            <a:custGeom>
              <a:avLst/>
              <a:gdLst/>
              <a:ahLst/>
              <a:cxnLst/>
              <a:rect l="l" t="t" r="r" b="b"/>
              <a:pathLst>
                <a:path w="8474859" h="5372100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59443" y="-865713"/>
            <a:ext cx="2695438" cy="2334501"/>
            <a:chOff x="0" y="0"/>
            <a:chExt cx="6202680" cy="5372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214614" y="4334122"/>
            <a:ext cx="9009000" cy="4245491"/>
          </a:xfrm>
          <a:custGeom>
            <a:avLst/>
            <a:gdLst/>
            <a:ahLst/>
            <a:cxnLst/>
            <a:rect l="l" t="t" r="r" b="b"/>
            <a:pathLst>
              <a:path w="9009000" h="4245491">
                <a:moveTo>
                  <a:pt x="0" y="0"/>
                </a:moveTo>
                <a:lnTo>
                  <a:pt x="9009000" y="0"/>
                </a:lnTo>
                <a:lnTo>
                  <a:pt x="9009000" y="4245492"/>
                </a:lnTo>
                <a:lnTo>
                  <a:pt x="0" y="4245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05046" y="4334122"/>
            <a:ext cx="8668340" cy="4245491"/>
          </a:xfrm>
          <a:custGeom>
            <a:avLst/>
            <a:gdLst/>
            <a:ahLst/>
            <a:cxnLst/>
            <a:rect l="l" t="t" r="r" b="b"/>
            <a:pathLst>
              <a:path w="8668340" h="4245491">
                <a:moveTo>
                  <a:pt x="0" y="0"/>
                </a:moveTo>
                <a:lnTo>
                  <a:pt x="8668340" y="0"/>
                </a:lnTo>
                <a:lnTo>
                  <a:pt x="8668340" y="4245492"/>
                </a:lnTo>
                <a:lnTo>
                  <a:pt x="0" y="4245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487336"/>
            <a:ext cx="13434478" cy="9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B performs slightly better in end-to-end sequence recognition.</a:t>
            </a:r>
          </a:p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Module C provides a fixed-length baseline that decomposes position-wise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218" y="2584784"/>
            <a:ext cx="15899564" cy="6173313"/>
            <a:chOff x="0" y="0"/>
            <a:chExt cx="21199418" cy="82310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1939" cy="8231084"/>
            </a:xfrm>
            <a:custGeom>
              <a:avLst/>
              <a:gdLst/>
              <a:ahLst/>
              <a:cxnLst/>
              <a:rect l="l" t="t" r="r" b="b"/>
              <a:pathLst>
                <a:path w="9611939" h="8231084">
                  <a:moveTo>
                    <a:pt x="0" y="0"/>
                  </a:moveTo>
                  <a:lnTo>
                    <a:pt x="9611939" y="0"/>
                  </a:lnTo>
                  <a:lnTo>
                    <a:pt x="9611939" y="8231084"/>
                  </a:lnTo>
                  <a:lnTo>
                    <a:pt x="0" y="823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676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386734" y="0"/>
              <a:ext cx="9812685" cy="8231084"/>
            </a:xfrm>
            <a:custGeom>
              <a:avLst/>
              <a:gdLst/>
              <a:ahLst/>
              <a:cxnLst/>
              <a:rect l="l" t="t" r="r" b="b"/>
              <a:pathLst>
                <a:path w="9812685" h="8231084">
                  <a:moveTo>
                    <a:pt x="0" y="0"/>
                  </a:moveTo>
                  <a:lnTo>
                    <a:pt x="9812684" y="0"/>
                  </a:lnTo>
                  <a:lnTo>
                    <a:pt x="9812684" y="8231084"/>
                  </a:lnTo>
                  <a:lnTo>
                    <a:pt x="0" y="823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355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971550"/>
            <a:ext cx="15887700" cy="96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sz="5999" b="1" spc="-59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Comparison of Module B/C Pipeline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9095"/>
            <a:ext cx="9513859" cy="96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sz="4800" b="1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Before/After Restoration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74859" cy="5372100"/>
            </a:xfrm>
            <a:custGeom>
              <a:avLst/>
              <a:gdLst/>
              <a:ahLst/>
              <a:cxnLst/>
              <a:rect l="l" t="t" r="r" b="b"/>
              <a:pathLst>
                <a:path w="8474859" h="5372100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59443" y="-865713"/>
            <a:ext cx="2695438" cy="2334501"/>
            <a:chOff x="0" y="0"/>
            <a:chExt cx="6202680" cy="5372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352304" y="1641778"/>
            <a:ext cx="17583393" cy="8527946"/>
          </a:xfrm>
          <a:custGeom>
            <a:avLst/>
            <a:gdLst/>
            <a:ahLst/>
            <a:cxnLst/>
            <a:rect l="l" t="t" r="r" b="b"/>
            <a:pathLst>
              <a:path w="17583393" h="8527946">
                <a:moveTo>
                  <a:pt x="0" y="0"/>
                </a:moveTo>
                <a:lnTo>
                  <a:pt x="17583392" y="0"/>
                </a:lnTo>
                <a:lnTo>
                  <a:pt x="17583392" y="8527945"/>
                </a:lnTo>
                <a:lnTo>
                  <a:pt x="0" y="8527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99111" y="2687862"/>
            <a:ext cx="2977778" cy="2578770"/>
            <a:chOff x="0" y="0"/>
            <a:chExt cx="3619627" cy="3134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660090" y="-135282"/>
            <a:ext cx="4201515" cy="3638531"/>
            <a:chOff x="0" y="0"/>
            <a:chExt cx="3619627" cy="3134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243939" y="-956153"/>
            <a:ext cx="2481390" cy="2148895"/>
            <a:chOff x="0" y="0"/>
            <a:chExt cx="3619627" cy="31346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31805" y="2812580"/>
            <a:ext cx="12215548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Beyond CAPTCHA recognition, we test whether image restoration first improves recognition,</a:t>
            </a:r>
          </a:p>
          <a:p>
            <a:pPr marL="0" lvl="0" indent="0" algn="l">
              <a:lnSpc>
                <a:spcPts val="3779"/>
              </a:lnSpc>
            </a:pPr>
            <a:r>
              <a:rPr lang="en-US" sz="24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comparing full-sequence recognition with position-wise classification.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019175"/>
            <a:ext cx="5699080" cy="92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6000" b="1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1805" y="4518566"/>
            <a:ext cx="13249792" cy="408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47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Image restoration brings corrupted CAPTCHA images from nearly unrecognizable back into a recognizable range; the clearest evidence is +75.73 pts from Module B dirty -&gt; M1 -&gt; B.</a:t>
            </a:r>
          </a:p>
          <a:p>
            <a:pPr marL="582928" lvl="1" indent="-291464" algn="l">
              <a:lnSpc>
                <a:spcPts val="47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Sequence-based Transformer/CRNN is currently the most stable full-sequence route and works well as the downstream recognizer.</a:t>
            </a:r>
          </a:p>
          <a:p>
            <a:pPr marL="582928" lvl="1" indent="-291464" algn="l">
              <a:lnSpc>
                <a:spcPts val="47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Position-wise Module C also performs well on the clean set, showing that character-by-character classification still has value.</a:t>
            </a:r>
          </a:p>
          <a:p>
            <a:pPr marL="582928" lvl="1" indent="-291464" algn="l">
              <a:lnSpc>
                <a:spcPts val="47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STN should be interpreted together with the ResNet backbone; this experiment shows that model capacity and data alignment strongly affect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652</Words>
  <Application>Microsoft Office PowerPoint</Application>
  <PresentationFormat>自訂</PresentationFormat>
  <Paragraphs>118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Fira Sans Bold</vt:lpstr>
      <vt:lpstr>Calibri</vt:lpstr>
      <vt:lpstr>Fira Sans Light</vt:lpstr>
      <vt:lpstr>Fira Sans Medium</vt:lpstr>
      <vt:lpstr>Fira Sans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</dc:title>
  <cp:lastModifiedBy>正璿 盛</cp:lastModifiedBy>
  <cp:revision>2</cp:revision>
  <dcterms:created xsi:type="dcterms:W3CDTF">2006-08-16T00:00:00Z</dcterms:created>
  <dcterms:modified xsi:type="dcterms:W3CDTF">2026-06-19T10:35:16Z</dcterms:modified>
  <dc:identifier>DAHLhOZqoR0</dc:identifier>
</cp:coreProperties>
</file>