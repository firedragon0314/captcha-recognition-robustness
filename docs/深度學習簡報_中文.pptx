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Fira Sans Bold" charset="1" panose="020B0803050000020004"/>
      <p:regular r:id="rId24"/>
    </p:embeddedFont>
    <p:embeddedFont>
      <p:font typeface="Fira Sans" charset="1" panose="020B0503050000020004"/>
      <p:regular r:id="rId25"/>
    </p:embeddedFont>
    <p:embeddedFont>
      <p:font typeface="Fira Sans Light" charset="1" panose="020B0403050000020004"/>
      <p:regular r:id="rId26"/>
    </p:embeddedFont>
    <p:embeddedFont>
      <p:font typeface="Fira Sans Medium" charset="1" panose="020B0603050000020004"/>
      <p:regular r:id="rId27"/>
    </p:embeddedFont>
    <p:embeddedFont>
      <p:font typeface="29LT Massira" charset="1" panose="02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007226"/>
            <a:ext cx="10202605" cy="4959943"/>
            <a:chOff x="0" y="0"/>
            <a:chExt cx="13603473" cy="661325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3603473" cy="5660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Robust CAPTCHA Recognition under Corrupted Conditions:</a:t>
              </a:r>
            </a:p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Sequence-based</a:t>
              </a:r>
            </a:p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Recognition vs Position-wise Character Classification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90486"/>
              <a:ext cx="13603473" cy="622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112503519盛正璿  112503503吳睿嬛  112503513葉俊廷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28902" y="2317173"/>
            <a:ext cx="7321033" cy="6340049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36342" y="5954842"/>
            <a:ext cx="2271679" cy="1967285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37770" y="373605"/>
            <a:ext cx="3799619" cy="3290488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1028700"/>
            <a:ext cx="4212844" cy="586200"/>
            <a:chOff x="0" y="0"/>
            <a:chExt cx="5617125" cy="7816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1293956" y="104399"/>
              <a:ext cx="4323169" cy="525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深度學習程式設計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5010" cy="781600"/>
            </a:xfrm>
            <a:custGeom>
              <a:avLst/>
              <a:gdLst/>
              <a:ahLst/>
              <a:cxnLst/>
              <a:rect r="r" b="b" t="t" l="l"/>
              <a:pathLst>
                <a:path h="781600" w="905010">
                  <a:moveTo>
                    <a:pt x="0" y="0"/>
                  </a:moveTo>
                  <a:lnTo>
                    <a:pt x="905010" y="0"/>
                  </a:lnTo>
                  <a:lnTo>
                    <a:pt x="905010" y="781600"/>
                  </a:lnTo>
                  <a:lnTo>
                    <a:pt x="0" y="78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27743" y="-89986"/>
            <a:ext cx="10138115" cy="8779655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05679" y="5832746"/>
            <a:ext cx="5966980" cy="5167433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4081198"/>
            <a:ext cx="4460469" cy="128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F4F4F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目錄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92884" y="1604347"/>
            <a:ext cx="6109328" cy="48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專題簡介與研究問題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92884" y="2318578"/>
            <a:ext cx="6109328" cy="48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資料集設計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92884" y="3738510"/>
            <a:ext cx="6109328" cy="48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A模組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92884" y="4452741"/>
            <a:ext cx="6109328" cy="48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B模組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92884" y="5166972"/>
            <a:ext cx="6109328" cy="48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C模組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92884" y="3028544"/>
            <a:ext cx="6109328" cy="48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整體實驗流程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92884" y="5876939"/>
            <a:ext cx="6109328" cy="48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模組結果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92884" y="6591170"/>
            <a:ext cx="6109328" cy="48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修復前後比較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92884" y="7305401"/>
            <a:ext cx="6109328" cy="48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結論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98743" y="4201140"/>
            <a:ext cx="7027514" cy="6085860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06823" y="563974"/>
            <a:ext cx="4961246" cy="4296462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592970" y="2120110"/>
            <a:ext cx="7611546" cy="6591255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0" t="0" r="-2989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4212844" cy="586200"/>
            <a:chOff x="0" y="0"/>
            <a:chExt cx="5617125" cy="7816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1293956" y="104399"/>
              <a:ext cx="4323169" cy="525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深度學習程式設計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5010" cy="781600"/>
            </a:xfrm>
            <a:custGeom>
              <a:avLst/>
              <a:gdLst/>
              <a:ahLst/>
              <a:cxnLst/>
              <a:rect r="r" b="b" t="t" l="l"/>
              <a:pathLst>
                <a:path h="781600" w="905010">
                  <a:moveTo>
                    <a:pt x="0" y="0"/>
                  </a:moveTo>
                  <a:lnTo>
                    <a:pt x="905010" y="0"/>
                  </a:lnTo>
                  <a:lnTo>
                    <a:pt x="905010" y="781600"/>
                  </a:lnTo>
                  <a:lnTo>
                    <a:pt x="0" y="78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2328685"/>
            <a:ext cx="7784689" cy="98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  <a:spcBef>
                <a:spcPct val="0"/>
              </a:spcBef>
            </a:pPr>
            <a:r>
              <a:rPr lang="en-US" b="true" sz="6399" spc="-63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簡介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766947"/>
            <a:ext cx="9762858" cy="2648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1"/>
              </a:lnSpc>
            </a:pPr>
            <a:r>
              <a:rPr lang="en-US" sz="2699">
                <a:solidFill>
                  <a:srgbClr val="000000"/>
                </a:solidFill>
                <a:latin typeface="29LT Massira"/>
                <a:ea typeface="29LT Massira"/>
                <a:cs typeface="29LT Massira"/>
                <a:sym typeface="29LT Massira"/>
              </a:rPr>
              <a:t>CAPTCHA 是常見的人機驗證系統</a:t>
            </a:r>
            <a:r>
              <a:rPr lang="en-US" sz="2699">
                <a:solidFill>
                  <a:srgbClr val="000000"/>
                </a:solidFill>
                <a:latin typeface="29LT Massira"/>
                <a:ea typeface="29LT Massira"/>
                <a:cs typeface="29LT Massira"/>
                <a:sym typeface="29LT Massira"/>
              </a:rPr>
              <a:t>，</a:t>
            </a:r>
            <a:r>
              <a:rPr lang="en-US" sz="2699">
                <a:solidFill>
                  <a:srgbClr val="000000"/>
                </a:solidFill>
                <a:latin typeface="29LT Massira"/>
                <a:ea typeface="29LT Massira"/>
                <a:cs typeface="29LT Massira"/>
                <a:sym typeface="29LT Massira"/>
              </a:rPr>
              <a:t>圖片被干擾後，深度學習模型還能不能修復並正確辨識？</a:t>
            </a:r>
          </a:p>
          <a:p>
            <a:pPr algn="just">
              <a:lnSpc>
                <a:spcPts val="4211"/>
              </a:lnSpc>
            </a:pPr>
            <a:r>
              <a:rPr lang="en-US" sz="2699">
                <a:solidFill>
                  <a:srgbClr val="000000"/>
                </a:solidFill>
                <a:latin typeface="29LT Massira"/>
                <a:ea typeface="29LT Massira"/>
                <a:cs typeface="29LT Massira"/>
                <a:sym typeface="29LT Massira"/>
              </a:rPr>
              <a:t>我們建立 clean、dirty、restored 三類資料，並比較不同模型在 CAPTCHA 圖片上的表現。重點不是只追求最高辨識率，而是分析影像修復是否能提升後續辨識的魯棒性。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73366" y="6619710"/>
            <a:ext cx="336492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00A18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 模組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55829" y="6665746"/>
            <a:ext cx="5350372" cy="422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資料準備、干擾生成、影像修復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73366" y="7672689"/>
            <a:ext cx="3364925" cy="55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00A18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 模組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55829" y="7196445"/>
            <a:ext cx="715099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CRNN</a:t>
            </a: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/ Transformer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sequence-based CAPTCHA recognition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報告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31238" y="9001417"/>
            <a:ext cx="3678891" cy="55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00A18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 模組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955829" y="8609320"/>
            <a:ext cx="6035298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CNN</a:t>
            </a: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multi-head classifier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position-wise character classification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專案規劃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2616" y="6657420"/>
            <a:ext cx="535037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吳睿嬛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2616" y="7718743"/>
            <a:ext cx="535037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葉俊廷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2616" y="9079217"/>
            <a:ext cx="535037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盛正璿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1102616" y="7153110"/>
            <a:ext cx="945944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1102616" y="8514070"/>
            <a:ext cx="945944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99111" y="2687862"/>
            <a:ext cx="2977778" cy="2578770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60090" y="-135282"/>
            <a:ext cx="4201515" cy="3638531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243939" y="-956153"/>
            <a:ext cx="2481390" cy="214889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87600" y="4497656"/>
            <a:ext cx="4101201" cy="1537950"/>
          </a:xfrm>
          <a:custGeom>
            <a:avLst/>
            <a:gdLst/>
            <a:ahLst/>
            <a:cxnLst/>
            <a:rect r="r" b="b" t="t" l="l"/>
            <a:pathLst>
              <a:path h="1537950" w="4101201">
                <a:moveTo>
                  <a:pt x="0" y="0"/>
                </a:moveTo>
                <a:lnTo>
                  <a:pt x="4101200" y="0"/>
                </a:lnTo>
                <a:lnTo>
                  <a:pt x="4101200" y="1537951"/>
                </a:lnTo>
                <a:lnTo>
                  <a:pt x="0" y="1537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27025" y="4497656"/>
            <a:ext cx="4101201" cy="1537950"/>
          </a:xfrm>
          <a:custGeom>
            <a:avLst/>
            <a:gdLst/>
            <a:ahLst/>
            <a:cxnLst/>
            <a:rect r="r" b="b" t="t" l="l"/>
            <a:pathLst>
              <a:path h="1537950" w="4101201">
                <a:moveTo>
                  <a:pt x="0" y="0"/>
                </a:moveTo>
                <a:lnTo>
                  <a:pt x="4101201" y="0"/>
                </a:lnTo>
                <a:lnTo>
                  <a:pt x="4101201" y="1537951"/>
                </a:lnTo>
                <a:lnTo>
                  <a:pt x="0" y="15379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193338" y="4374525"/>
            <a:ext cx="4101201" cy="1537950"/>
          </a:xfrm>
          <a:custGeom>
            <a:avLst/>
            <a:gdLst/>
            <a:ahLst/>
            <a:cxnLst/>
            <a:rect r="r" b="b" t="t" l="l"/>
            <a:pathLst>
              <a:path h="1537950" w="4101201">
                <a:moveTo>
                  <a:pt x="0" y="0"/>
                </a:moveTo>
                <a:lnTo>
                  <a:pt x="4101201" y="0"/>
                </a:lnTo>
                <a:lnTo>
                  <a:pt x="4101201" y="1537950"/>
                </a:lnTo>
                <a:lnTo>
                  <a:pt x="0" y="1537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2421162"/>
            <a:ext cx="11398779" cy="143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我們使用固定長度5個字元的CAPTCHA圖片，字元包含大寫英文字母與數字</a:t>
            </a:r>
          </a:p>
          <a:p>
            <a:pPr algn="l" marL="0" indent="0" lvl="0">
              <a:lnSpc>
                <a:spcPts val="6020"/>
              </a:lnSpc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圖片檔名格式舉例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43164" y="3403487"/>
            <a:ext cx="8776234" cy="45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底線後方的YN040為該圖片的</a:t>
            </a: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label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7520" y="3353381"/>
            <a:ext cx="3364925" cy="55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00A18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13</a:t>
            </a:r>
            <a:r>
              <a:rPr lang="en-US" b="true" sz="3600">
                <a:solidFill>
                  <a:srgbClr val="00A18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_YN040.png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926443"/>
            <a:ext cx="12215239" cy="162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normal image：原始CAPTCHA圖片</a:t>
            </a:r>
          </a:p>
          <a:p>
            <a:pPr algn="l">
              <a:lnSpc>
                <a:spcPts val="4400"/>
              </a:lnSpc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corrupted image：由normal圖片加入干擾後產生，也可稱為dirty image</a:t>
            </a:r>
          </a:p>
          <a:p>
            <a:pPr algn="l" marL="0" indent="0" lvl="0">
              <a:lnSpc>
                <a:spcPts val="4400"/>
              </a:lnSpc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clean image：根據相同label重新產生的乾淨CAPTCHA圖片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019175"/>
            <a:ext cx="5699080" cy="92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b="true" sz="6000" spc="-6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資料集設計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7241307" cy="981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  <a:spcBef>
                <a:spcPct val="0"/>
              </a:spcBef>
            </a:pPr>
            <a:r>
              <a:rPr lang="en-US" b="true" sz="6000" spc="-6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整體實驗流程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10542559" y="-4150923"/>
            <a:ext cx="9822161" cy="6226137"/>
            <a:chOff x="0" y="0"/>
            <a:chExt cx="8474859" cy="5372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74859" cy="5372100"/>
            </a:xfrm>
            <a:custGeom>
              <a:avLst/>
              <a:gdLst/>
              <a:ahLst/>
              <a:cxnLst/>
              <a:rect r="r" b="b" t="t" l="l"/>
              <a:pathLst>
                <a:path h="5372100" w="8474859">
                  <a:moveTo>
                    <a:pt x="692418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6924189" y="5372100"/>
                  </a:lnTo>
                  <a:lnTo>
                    <a:pt x="8474859" y="2686050"/>
                  </a:lnTo>
                  <a:lnTo>
                    <a:pt x="6924189" y="0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59443" y="-865713"/>
            <a:ext cx="2695438" cy="2334501"/>
            <a:chOff x="0" y="0"/>
            <a:chExt cx="6202680" cy="5372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2158038" y="5932357"/>
            <a:ext cx="16129956" cy="9525"/>
          </a:xfrm>
          <a:prstGeom prst="line">
            <a:avLst/>
          </a:prstGeom>
          <a:ln cap="rnd" w="19050">
            <a:solidFill>
              <a:srgbClr val="00465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702615" y="6381906"/>
            <a:ext cx="3291050" cy="2056953"/>
            <a:chOff x="0" y="0"/>
            <a:chExt cx="4388067" cy="274260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4388067" cy="75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39"/>
                </a:lnSpc>
                <a:spcBef>
                  <a:spcPct val="0"/>
                </a:spcBef>
              </a:pPr>
              <a:r>
                <a:rPr lang="en-US" b="true" sz="3699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Clean CAPTCHA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99765"/>
              <a:ext cx="3895570" cy="1642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5-</a:t>
              </a: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character labels:</a:t>
              </a:r>
            </a:p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A-Z + 0-9</a:t>
              </a:r>
            </a:p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95258" y="6381906"/>
            <a:ext cx="2478430" cy="2876394"/>
            <a:chOff x="0" y="0"/>
            <a:chExt cx="3304574" cy="3835192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3304574" cy="733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Corruption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74690"/>
              <a:ext cx="3304574" cy="2760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noise</a:t>
              </a: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/ blur / rotation / interference / occlusion</a:t>
              </a:r>
            </a:p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67842" y="6381906"/>
            <a:ext cx="2921677" cy="2038147"/>
            <a:chOff x="0" y="0"/>
            <a:chExt cx="3895570" cy="271752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9525"/>
              <a:ext cx="3895570" cy="733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Restoration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74690"/>
              <a:ext cx="3895570" cy="1642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DAE</a:t>
              </a: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/ DnCNN: </a:t>
              </a:r>
            </a:p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dirty -&gt; restored</a:t>
              </a:r>
            </a:p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265769" y="6381906"/>
            <a:ext cx="2921677" cy="2457270"/>
            <a:chOff x="0" y="0"/>
            <a:chExt cx="3895570" cy="327636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9525"/>
              <a:ext cx="3895570" cy="733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Recognition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074690"/>
              <a:ext cx="3895570" cy="2201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B</a:t>
              </a: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sequence model and C position-wise model</a:t>
              </a:r>
            </a:p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58038" y="5767729"/>
            <a:ext cx="380203" cy="329258"/>
            <a:chOff x="0" y="0"/>
            <a:chExt cx="3619627" cy="313461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554270" y="5777254"/>
            <a:ext cx="380203" cy="329258"/>
            <a:chOff x="0" y="0"/>
            <a:chExt cx="3619627" cy="313461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953898" y="5804217"/>
            <a:ext cx="380203" cy="329258"/>
            <a:chOff x="0" y="0"/>
            <a:chExt cx="3619627" cy="31346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52000" y="5767729"/>
            <a:ext cx="380203" cy="329258"/>
            <a:chOff x="0" y="0"/>
            <a:chExt cx="3619627" cy="31346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663697" y="6381906"/>
            <a:ext cx="2921677" cy="2457270"/>
            <a:chOff x="0" y="0"/>
            <a:chExt cx="3895570" cy="3276360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9525"/>
              <a:ext cx="3895570" cy="733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00A18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Robustness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1074690"/>
              <a:ext cx="3895570" cy="2201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drop</a:t>
              </a:r>
              <a:r>
                <a:rPr lang="en-US" sz="23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under corruption and gain after restoration</a:t>
              </a:r>
            </a:p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750102" y="5767729"/>
            <a:ext cx="380203" cy="329258"/>
            <a:chOff x="0" y="0"/>
            <a:chExt cx="3619627" cy="313461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2890605"/>
            <a:ext cx="13434478" cy="140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同一批 CAPTCHA 會被放在不同 input condition 下測試</a:t>
            </a:r>
          </a:p>
          <a:p>
            <a:pPr algn="l" marL="0" indent="0" lvl="0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clean / original 作為上限，dirty 作為 stress test，restored 用來驗證修復是否真的提升 downstream recognition。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04383"/>
            <a:ext cx="14766361" cy="2475165"/>
            <a:chOff x="0" y="0"/>
            <a:chExt cx="19688481" cy="33002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566752"/>
              <a:ext cx="19688481" cy="733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Image Rest</a:t>
              </a:r>
              <a:r>
                <a:rPr lang="en-US" b="true" sz="3600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oration and Data Preparation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9688481" cy="2108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A4E47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A 模組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5512745" cy="122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  <a:spcBef>
                <a:spcPct val="0"/>
              </a:spcBef>
            </a:pPr>
            <a:r>
              <a:rPr lang="en-US" b="true" sz="8000" spc="-8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 模組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072111" y="1494972"/>
            <a:ext cx="9717879" cy="129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A 模組的角色是把 CAPTCHA 轉成可測試的</a:t>
            </a: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controlled robustness problem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先製造干擾，再用 restoration model 嘗試保留字元結構。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083381" y="3051059"/>
          <a:ext cx="9717879" cy="4964841"/>
        </p:xfrm>
        <a:graphic>
          <a:graphicData uri="http://schemas.openxmlformats.org/drawingml/2006/table">
            <a:tbl>
              <a:tblPr/>
              <a:tblGrid>
                <a:gridCol w="2879808"/>
                <a:gridCol w="6838071"/>
              </a:tblGrid>
              <a:tr h="9362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1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variant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1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implementation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  <a:tr h="9825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DnCNN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  <a:tr h="8914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data pair - 1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dirty → normal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  <a:tr h="9362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data pair - 2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normal → clean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  <a:tr h="12183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training settings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supervised / contrastive / semi-supervised / consistency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04383"/>
            <a:ext cx="14766361" cy="2475165"/>
            <a:chOff x="0" y="0"/>
            <a:chExt cx="19688481" cy="33002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566752"/>
              <a:ext cx="19688481" cy="733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CRNN: seque</a:t>
              </a:r>
              <a:r>
                <a:rPr lang="en-US" b="true" sz="3600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nce-based CAPTCHA recognition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9688481" cy="2108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A4E47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B 模組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5512745" cy="122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  <a:spcBef>
                <a:spcPct val="0"/>
              </a:spcBef>
            </a:pPr>
            <a:r>
              <a:rPr lang="en-US" b="true" sz="8000" spc="-8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 模組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083381" y="1922122"/>
            <a:ext cx="9717879" cy="86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B 的核心是假設 CAPTCHA 不一定能被可靠切字元，所以直接把整張圖當成</a:t>
            </a: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sequence recognition 問題處理。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083381" y="3051059"/>
          <a:ext cx="9717879" cy="4963470"/>
        </p:xfrm>
        <a:graphic>
          <a:graphicData uri="http://schemas.openxmlformats.org/drawingml/2006/table">
            <a:tbl>
              <a:tblPr/>
              <a:tblGrid>
                <a:gridCol w="2879808"/>
                <a:gridCol w="6838071"/>
              </a:tblGrid>
              <a:tr h="9362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1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variant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1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implementation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  <a:tr h="9362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B-1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CRNN + CTC Loss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  <a:tr h="9362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B-2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CNN + Transformer Encoder + CTC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  <a:tr h="12183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training settings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sup</a:t>
                      </a: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ervised / contrastive / semi-supervised / consistency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  <a:tr h="9362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B-specific metrics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char, seq, edit, failure cases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04383"/>
            <a:ext cx="14766361" cy="2475165"/>
            <a:chOff x="0" y="0"/>
            <a:chExt cx="19688481" cy="33002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566752"/>
              <a:ext cx="19688481" cy="733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CNN multi-head classifier: posi</a:t>
              </a:r>
              <a:r>
                <a:rPr lang="en-US" b="true" sz="3600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tion-wise character classification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9688481" cy="2108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A4E47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 模組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5512745" cy="122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  <a:spcBef>
                <a:spcPct val="0"/>
              </a:spcBef>
            </a:pPr>
            <a:r>
              <a:rPr lang="en-US" b="true" sz="8000" spc="-8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 模組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083381" y="1527187"/>
            <a:ext cx="9717879" cy="129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 把 CAPTCHA 視為固定五碼字串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共享</a:t>
            </a:r>
            <a:r>
              <a:rPr lang="en-US" sz="24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encoder 抽特徵，五個 classification heads 分別預測第 1 到第 5 個字元。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083381" y="3051059"/>
          <a:ext cx="9717879" cy="4963470"/>
        </p:xfrm>
        <a:graphic>
          <a:graphicData uri="http://schemas.openxmlformats.org/drawingml/2006/table">
            <a:tbl>
              <a:tblPr/>
              <a:tblGrid>
                <a:gridCol w="2879808"/>
                <a:gridCol w="6838071"/>
              </a:tblGrid>
              <a:tr h="9362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1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variant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1"/>
                          </a:solidFill>
                          <a:latin typeface="Fira Sans Bold"/>
                          <a:ea typeface="Fira Sans Bold"/>
                          <a:cs typeface="Fira Sans Bold"/>
                          <a:sym typeface="Fira Sans Bold"/>
                        </a:rPr>
                        <a:t>implementation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  <a:tr h="9362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C-1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Pure Multi-head CNN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  <a:tr h="9362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C-2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STN + ResNet18 + Multi-head classifier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  <a:tr h="12183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training settings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sup</a:t>
                      </a: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ervised / contrastive / semi-supervised / consistency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  <a:tr h="9362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C-specific metrics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4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per-position, char, seq, edit, failure cases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04383"/>
            <a:ext cx="14766361" cy="2475165"/>
            <a:chOff x="0" y="0"/>
            <a:chExt cx="19688481" cy="33002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566752"/>
              <a:ext cx="19688481" cy="733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DnCNN rest</a:t>
              </a:r>
              <a:r>
                <a:rPr lang="en-US" b="true" sz="3600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oration quality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9688481" cy="2108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A4E47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A 模組結果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71550"/>
            <a:ext cx="9513859" cy="962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  <a:spcBef>
                <a:spcPct val="0"/>
              </a:spcBef>
            </a:pPr>
            <a:r>
              <a:rPr lang="en-US" b="true" sz="5999" spc="-59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 模組結果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10542559" y="-4150923"/>
            <a:ext cx="9822161" cy="6226137"/>
            <a:chOff x="0" y="0"/>
            <a:chExt cx="8474859" cy="5372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74859" cy="5372100"/>
            </a:xfrm>
            <a:custGeom>
              <a:avLst/>
              <a:gdLst/>
              <a:ahLst/>
              <a:cxnLst/>
              <a:rect r="r" b="b" t="t" l="l"/>
              <a:pathLst>
                <a:path h="5372100" w="8474859">
                  <a:moveTo>
                    <a:pt x="692418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6924189" y="5372100"/>
                  </a:lnTo>
                  <a:lnTo>
                    <a:pt x="8474859" y="2686050"/>
                  </a:lnTo>
                  <a:lnTo>
                    <a:pt x="6924189" y="0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59443" y="-865713"/>
            <a:ext cx="2695438" cy="2334501"/>
            <a:chOff x="0" y="0"/>
            <a:chExt cx="6202680" cy="5372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3696730"/>
            <a:ext cx="10750304" cy="6020170"/>
          </a:xfrm>
          <a:custGeom>
            <a:avLst/>
            <a:gdLst/>
            <a:ahLst/>
            <a:cxnLst/>
            <a:rect r="r" b="b" t="t" l="l"/>
            <a:pathLst>
              <a:path h="6020170" w="10750304">
                <a:moveTo>
                  <a:pt x="0" y="0"/>
                </a:moveTo>
                <a:lnTo>
                  <a:pt x="10750304" y="0"/>
                </a:lnTo>
                <a:lnTo>
                  <a:pt x="10750304" y="6020170"/>
                </a:lnTo>
                <a:lnTo>
                  <a:pt x="0" y="6020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240886"/>
            <a:ext cx="13434478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M1 是最適合交給後續辨識模型的 restoration model</a:t>
            </a:r>
          </a:p>
          <a:p>
            <a:pPr algn="l" marL="0" indent="0" lvl="0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M3 次佳，但 M2/M4 與 normal-&gt;clean 系列對辨識幫助有限。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04383"/>
            <a:ext cx="14766361" cy="2475165"/>
            <a:chOff x="0" y="0"/>
            <a:chExt cx="19688481" cy="33002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566752"/>
              <a:ext cx="19688481" cy="733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recognition comparison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9688481" cy="2108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A4E47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B/C 模組結果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71550"/>
            <a:ext cx="9513859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  <a:spcBef>
                <a:spcPct val="0"/>
              </a:spcBef>
            </a:pPr>
            <a:r>
              <a:rPr lang="en-US" b="true" sz="5999" spc="-59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B/C 模組結果 (Normal)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10542559" y="-4150923"/>
            <a:ext cx="9822161" cy="6226137"/>
            <a:chOff x="0" y="0"/>
            <a:chExt cx="8474859" cy="5372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74859" cy="5372100"/>
            </a:xfrm>
            <a:custGeom>
              <a:avLst/>
              <a:gdLst/>
              <a:ahLst/>
              <a:cxnLst/>
              <a:rect r="r" b="b" t="t" l="l"/>
              <a:pathLst>
                <a:path h="5372100" w="8474859">
                  <a:moveTo>
                    <a:pt x="692418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6924189" y="5372100"/>
                  </a:lnTo>
                  <a:lnTo>
                    <a:pt x="8474859" y="2686050"/>
                  </a:lnTo>
                  <a:lnTo>
                    <a:pt x="6924189" y="0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59443" y="-865713"/>
            <a:ext cx="2695438" cy="2334501"/>
            <a:chOff x="0" y="0"/>
            <a:chExt cx="6202680" cy="5372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14614" y="4334122"/>
            <a:ext cx="9009000" cy="4245491"/>
          </a:xfrm>
          <a:custGeom>
            <a:avLst/>
            <a:gdLst/>
            <a:ahLst/>
            <a:cxnLst/>
            <a:rect r="r" b="b" t="t" l="l"/>
            <a:pathLst>
              <a:path h="4245491" w="9009000">
                <a:moveTo>
                  <a:pt x="0" y="0"/>
                </a:moveTo>
                <a:lnTo>
                  <a:pt x="9009000" y="0"/>
                </a:lnTo>
                <a:lnTo>
                  <a:pt x="9009000" y="4245492"/>
                </a:lnTo>
                <a:lnTo>
                  <a:pt x="0" y="4245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05046" y="4334122"/>
            <a:ext cx="8668340" cy="4245491"/>
          </a:xfrm>
          <a:custGeom>
            <a:avLst/>
            <a:gdLst/>
            <a:ahLst/>
            <a:cxnLst/>
            <a:rect r="r" b="b" t="t" l="l"/>
            <a:pathLst>
              <a:path h="4245491" w="8668340">
                <a:moveTo>
                  <a:pt x="0" y="0"/>
                </a:moveTo>
                <a:lnTo>
                  <a:pt x="8668340" y="0"/>
                </a:lnTo>
                <a:lnTo>
                  <a:pt x="8668340" y="4245492"/>
                </a:lnTo>
                <a:lnTo>
                  <a:pt x="0" y="4245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487336"/>
            <a:ext cx="13434478" cy="9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B 模組在 end-to-end sequence recognition 略勝</a:t>
            </a:r>
          </a:p>
          <a:p>
            <a:pPr algn="l" marL="0" indent="0" lvl="0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 模組則提供可拆解位置錯誤的 fixed-length baseline。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4218" y="2584784"/>
            <a:ext cx="15899564" cy="6173313"/>
            <a:chOff x="0" y="0"/>
            <a:chExt cx="21199418" cy="82310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11939" cy="8231084"/>
            </a:xfrm>
            <a:custGeom>
              <a:avLst/>
              <a:gdLst/>
              <a:ahLst/>
              <a:cxnLst/>
              <a:rect r="r" b="b" t="t" l="l"/>
              <a:pathLst>
                <a:path h="8231084" w="9611939">
                  <a:moveTo>
                    <a:pt x="0" y="0"/>
                  </a:moveTo>
                  <a:lnTo>
                    <a:pt x="9611939" y="0"/>
                  </a:lnTo>
                  <a:lnTo>
                    <a:pt x="9611939" y="8231084"/>
                  </a:lnTo>
                  <a:lnTo>
                    <a:pt x="0" y="8231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56766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86734" y="0"/>
              <a:ext cx="9812685" cy="8231084"/>
            </a:xfrm>
            <a:custGeom>
              <a:avLst/>
              <a:gdLst/>
              <a:ahLst/>
              <a:cxnLst/>
              <a:rect r="r" b="b" t="t" l="l"/>
              <a:pathLst>
                <a:path h="8231084" w="9812685">
                  <a:moveTo>
                    <a:pt x="0" y="0"/>
                  </a:moveTo>
                  <a:lnTo>
                    <a:pt x="9812684" y="0"/>
                  </a:lnTo>
                  <a:lnTo>
                    <a:pt x="9812684" y="8231084"/>
                  </a:lnTo>
                  <a:lnTo>
                    <a:pt x="0" y="8231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3559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971550"/>
            <a:ext cx="9513859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  <a:spcBef>
                <a:spcPct val="0"/>
              </a:spcBef>
            </a:pPr>
            <a:r>
              <a:rPr lang="en-US" b="true" sz="5999" spc="-59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B/C 模組串接結果比較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19095"/>
            <a:ext cx="9513859" cy="962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  <a:spcBef>
                <a:spcPct val="0"/>
              </a:spcBef>
            </a:pPr>
            <a:r>
              <a:rPr lang="en-US" b="true" sz="5999" spc="-59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修復前後比較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10542559" y="-4150923"/>
            <a:ext cx="9822161" cy="6226137"/>
            <a:chOff x="0" y="0"/>
            <a:chExt cx="8474859" cy="5372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74859" cy="5372100"/>
            </a:xfrm>
            <a:custGeom>
              <a:avLst/>
              <a:gdLst/>
              <a:ahLst/>
              <a:cxnLst/>
              <a:rect r="r" b="b" t="t" l="l"/>
              <a:pathLst>
                <a:path h="5372100" w="8474859">
                  <a:moveTo>
                    <a:pt x="692418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6924189" y="5372100"/>
                  </a:lnTo>
                  <a:lnTo>
                    <a:pt x="8474859" y="2686050"/>
                  </a:lnTo>
                  <a:lnTo>
                    <a:pt x="6924189" y="0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59443" y="-865713"/>
            <a:ext cx="2695438" cy="2334501"/>
            <a:chOff x="0" y="0"/>
            <a:chExt cx="6202680" cy="5372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52304" y="1641778"/>
            <a:ext cx="17583393" cy="8527946"/>
          </a:xfrm>
          <a:custGeom>
            <a:avLst/>
            <a:gdLst/>
            <a:ahLst/>
            <a:cxnLst/>
            <a:rect r="r" b="b" t="t" l="l"/>
            <a:pathLst>
              <a:path h="8527946" w="17583393">
                <a:moveTo>
                  <a:pt x="0" y="0"/>
                </a:moveTo>
                <a:lnTo>
                  <a:pt x="17583392" y="0"/>
                </a:lnTo>
                <a:lnTo>
                  <a:pt x="17583392" y="8527945"/>
                </a:lnTo>
                <a:lnTo>
                  <a:pt x="0" y="8527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99111" y="2687862"/>
            <a:ext cx="2977778" cy="2578770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60090" y="-135282"/>
            <a:ext cx="4201515" cy="3638531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243939" y="-956153"/>
            <a:ext cx="2481390" cy="214889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31805" y="2812580"/>
            <a:ext cx="12215548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我們除了 CAPTCHA 辨識以外，我們檢驗「先進行影像修復是否讓 CAPTCHA 辨識效果會更好」，並比較整串辨識與位置式分類兩種策略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19175"/>
            <a:ext cx="5699080" cy="92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b="true" sz="6000" spc="-6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結論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1805" y="4518566"/>
            <a:ext cx="13249792" cy="408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72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Image restoration 能把 corrupted CAPTCHA 從幾乎不可辨識拉回到可辨識區間，最清楚的證據是 B 模組 dirty -&gt; M1 -&gt; B 的 +75.73 pts。</a:t>
            </a:r>
          </a:p>
          <a:p>
            <a:pPr algn="l" marL="582928" indent="-291464" lvl="1">
              <a:lnSpc>
                <a:spcPts val="472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Sequence-based Transformer/CRNN 是目前最穩的整串辨識路線，適合當 downstream recognizer。</a:t>
            </a:r>
          </a:p>
          <a:p>
            <a:pPr algn="l" marL="582928" indent="-291464" lvl="1">
              <a:lnSpc>
                <a:spcPts val="472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Position-wise C 模組在 clean-set 表現也很高，說明逐字分類策略仍有價值。</a:t>
            </a:r>
          </a:p>
          <a:p>
            <a:pPr algn="l" marL="582928" indent="-291464" lvl="1">
              <a:lnSpc>
                <a:spcPts val="472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STN 的效果要搭配 ResNet backbone 一起解讀，這次實驗更像是在提醒「模型容量與資料對齊」會強烈影響結果。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DAHLhOZqoR0</dc:identifier>
  <dcterms:modified xsi:type="dcterms:W3CDTF">2011-08-01T06:04:30Z</dcterms:modified>
  <cp:revision>1</cp:revision>
  <dc:title>深度學習</dc:title>
</cp:coreProperties>
</file>