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999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1">
                <a:solidFill>
                  <a:srgbClr val="20242A"/>
                </a:solidFill>
                <a:latin typeface="Aptos"/>
              </a:rPr>
              <a:t>Results appendix for Canva insertion</a:t>
            </a:r>
            <a:endParaRPr lang="en-US" sz="2400"/>
          </a:p>
        </p:txBody>
      </p:sp>
      <p:sp>
        <p:nvSpPr>
          <p:cNvPr id="4" name="Text 4"/>
          <p:cNvSpPr txBox="1"/>
          <p:nvPr/>
        </p:nvSpPr>
        <p:spPr>
          <a:xfrm>
            <a:off x="8961120" y="347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900" b="0">
                <a:solidFill>
                  <a:srgbClr val="5B6573"/>
                </a:solidFill>
                <a:latin typeface="Aptos"/>
              </a:rPr>
              <a:t>generated locally</a:t>
            </a:r>
            <a:endParaRPr lang="en-US" sz="900"/>
          </a:p>
        </p:txBody>
      </p:sp>
      <p:sp>
        <p:nvSpPr>
          <p:cNvPr id="5" name="Shape 5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640080" y="114300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800" b="1">
                <a:solidFill>
                  <a:srgbClr val="20242A"/>
                </a:solidFill>
                <a:latin typeface="Aptos"/>
              </a:rPr>
              <a:t>CAPTCHA recognition and denoising results</a:t>
            </a:r>
            <a:endParaRPr lang="en-US" sz="2800"/>
          </a:p>
        </p:txBody>
      </p:sp>
      <p:sp>
        <p:nvSpPr>
          <p:cNvPr id="7" name="Text 7"/>
          <p:cNvSpPr txBox="1"/>
          <p:nvPr/>
        </p:nvSpPr>
        <p:spPr>
          <a:xfrm>
            <a:off x="658368" y="1874519"/>
            <a:ext cx="67665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0">
                <a:solidFill>
                  <a:srgbClr val="5B6573"/>
                </a:solidFill>
                <a:latin typeface="Aptos"/>
              </a:rPr>
              <a:t>This appendix is prepared as a drop-in section after the current Canva deck.</a:t>
            </a:r>
            <a:endParaRPr lang="en-US" sz="1400"/>
          </a:p>
          <a:p>
            <a:pPr algn="l"/>
            <a:r>
              <a:rPr lang="en-US" sz="1400" b="0">
                <a:solidFill>
                  <a:srgbClr val="5B6573"/>
                </a:solidFill>
                <a:latin typeface="Aptos"/>
              </a:rPr>
              <a:t>It summarizes A result, B result, C result, chained downstream evaluation, and Denoised CNN before/after difference previews.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685800" y="3246120"/>
            <a:ext cx="25146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41248" y="34107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5B6573"/>
                </a:solidFill>
                <a:latin typeface="Aptos"/>
              </a:rPr>
              <a:t>A models</a:t>
            </a:r>
            <a:endParaRPr lang="en-US" sz="1000"/>
          </a:p>
        </p:txBody>
      </p:sp>
      <p:sp>
        <p:nvSpPr>
          <p:cNvPr id="10" name="Text 10"/>
          <p:cNvSpPr txBox="1"/>
          <p:nvPr/>
        </p:nvSpPr>
        <p:spPr>
          <a:xfrm>
            <a:off x="841248" y="374904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9 DnCNN restoration runs</a:t>
            </a:r>
            <a:endParaRPr lang="en-US" sz="1200"/>
          </a:p>
        </p:txBody>
      </p:sp>
      <p:sp>
        <p:nvSpPr>
          <p:cNvPr id="11" name="Shape 11"/>
          <p:cNvSpPr/>
          <p:nvPr/>
        </p:nvSpPr>
        <p:spPr>
          <a:xfrm>
            <a:off x="3474720" y="3246120"/>
            <a:ext cx="25146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3630168" y="34107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5B6573"/>
                </a:solidFill>
                <a:latin typeface="Aptos"/>
              </a:rPr>
              <a:t>B models</a:t>
            </a:r>
            <a:endParaRPr lang="en-US" sz="1000"/>
          </a:p>
        </p:txBody>
      </p:sp>
      <p:sp>
        <p:nvSpPr>
          <p:cNvPr id="13" name="Text 13"/>
          <p:cNvSpPr txBox="1"/>
          <p:nvPr/>
        </p:nvSpPr>
        <p:spPr>
          <a:xfrm>
            <a:off x="3630168" y="374904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8 sequence-recognition runs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6263640" y="3246120"/>
            <a:ext cx="25146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419088" y="34107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5B6573"/>
                </a:solidFill>
                <a:latin typeface="Aptos"/>
              </a:rPr>
              <a:t>C models</a:t>
            </a:r>
            <a:endParaRPr lang="en-US" sz="1000"/>
          </a:p>
        </p:txBody>
      </p:sp>
      <p:sp>
        <p:nvSpPr>
          <p:cNvPr id="16" name="Text 16"/>
          <p:cNvSpPr txBox="1"/>
          <p:nvPr/>
        </p:nvSpPr>
        <p:spPr>
          <a:xfrm>
            <a:off x="6419088" y="374904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8 position-wise CNN runs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9052560" y="3246120"/>
            <a:ext cx="25146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9208008" y="34107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5B6573"/>
                </a:solidFill>
                <a:latin typeface="Aptos"/>
              </a:rPr>
              <a:t>Chained eval</a:t>
            </a:r>
            <a:endParaRPr lang="en-US" sz="1000"/>
          </a:p>
        </p:txBody>
      </p:sp>
      <p:sp>
        <p:nvSpPr>
          <p:cNvPr id="19" name="Text 19"/>
          <p:cNvSpPr txBox="1"/>
          <p:nvPr/>
        </p:nvSpPr>
        <p:spPr>
          <a:xfrm>
            <a:off x="9208008" y="374904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39 evaluated tasks, expected 88</a:t>
            </a:r>
            <a:endParaRPr lang="en-US" sz="1200"/>
          </a:p>
        </p:txBody>
      </p:sp>
      <p:sp>
        <p:nvSpPr>
          <p:cNvPr id="20" name="Text 20"/>
          <p:cNvSpPr txBox="1"/>
          <p:nvPr/>
        </p:nvSpPr>
        <p:spPr>
          <a:xfrm>
            <a:off x="658368" y="49834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50" b="0">
                <a:solidFill>
                  <a:srgbClr val="5B6573"/>
                </a:solidFill>
                <a:latin typeface="Aptos"/>
              </a:rPr>
              <a:t>Source folder: C:\Users\buckl\.spyder-py3\智慧學習\captchas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1">
                <a:solidFill>
                  <a:srgbClr val="20242A"/>
                </a:solidFill>
                <a:latin typeface="Aptos"/>
              </a:rPr>
              <a:t>A result - DnCNN restoration quality</a:t>
            </a:r>
            <a:endParaRPr lang="en-US" sz="2400"/>
          </a:p>
        </p:txBody>
      </p:sp>
      <p:sp>
        <p:nvSpPr>
          <p:cNvPr id="4" name="Text 4"/>
          <p:cNvSpPr txBox="1"/>
          <p:nvPr/>
        </p:nvSpPr>
        <p:spPr>
          <a:xfrm>
            <a:off x="8961120" y="347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900" b="0">
                <a:solidFill>
                  <a:srgbClr val="5B6573"/>
                </a:solidFill>
                <a:latin typeface="Aptos"/>
              </a:rPr>
              <a:t>test split</a:t>
            </a:r>
            <a:endParaRPr lang="en-US" sz="900"/>
          </a:p>
        </p:txBody>
      </p:sp>
      <p:sp>
        <p:nvSpPr>
          <p:cNvPr id="5" name="Shape 5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594360" y="1005840"/>
            <a:ext cx="2971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777240" y="11704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 b="1">
                <a:solidFill>
                  <a:srgbClr val="5B6573"/>
                </a:solidFill>
                <a:latin typeface="Aptos"/>
              </a:rPr>
              <a:t>Best PSNR</a:t>
            </a:r>
            <a:endParaRPr lang="en-US" sz="1100"/>
          </a:p>
        </p:txBody>
      </p:sp>
      <p:sp>
        <p:nvSpPr>
          <p:cNvPr id="8" name="Text 8"/>
          <p:cNvSpPr txBox="1"/>
          <p:nvPr/>
        </p:nvSpPr>
        <p:spPr>
          <a:xfrm>
            <a:off x="777240" y="14813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168A8F"/>
                </a:solidFill>
                <a:latin typeface="Aptos"/>
              </a:rPr>
              <a:t>M1 corrupted -&gt; to -&gt; normal: 22.95 dB</a:t>
            </a:r>
            <a:endParaRPr lang="en-US" sz="1400"/>
          </a:p>
        </p:txBody>
      </p:sp>
      <p:sp>
        <p:nvSpPr>
          <p:cNvPr id="9" name="Text 9"/>
          <p:cNvSpPr txBox="1"/>
          <p:nvPr/>
        </p:nvSpPr>
        <p:spPr>
          <a:xfrm>
            <a:off x="3977639" y="1005840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Relative test PSNR by denoiser</a:t>
            </a:r>
            <a:endParaRPr lang="en-US" sz="1200"/>
          </a:p>
        </p:txBody>
      </p:sp>
      <p:sp>
        <p:nvSpPr>
          <p:cNvPr id="10" name="Text 10"/>
          <p:cNvSpPr txBox="1"/>
          <p:nvPr/>
        </p:nvSpPr>
        <p:spPr>
          <a:xfrm>
            <a:off x="3977639" y="1380744"/>
            <a:ext cx="25548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M1 supervised</a:t>
            </a:r>
            <a:endParaRPr lang="en-US" sz="760"/>
          </a:p>
        </p:txBody>
      </p:sp>
      <p:sp>
        <p:nvSpPr>
          <p:cNvPr id="11" name="Shape 11"/>
          <p:cNvSpPr/>
          <p:nvPr/>
        </p:nvSpPr>
        <p:spPr>
          <a:xfrm>
            <a:off x="6578192" y="1426464"/>
            <a:ext cx="346740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578192" y="1426464"/>
            <a:ext cx="3467404" cy="109728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10137036" y="1371600"/>
            <a:ext cx="10835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100.00%</a:t>
            </a:r>
            <a:endParaRPr lang="en-US" sz="800"/>
          </a:p>
        </p:txBody>
      </p:sp>
      <p:sp>
        <p:nvSpPr>
          <p:cNvPr id="14" name="Text 14"/>
          <p:cNvSpPr txBox="1"/>
          <p:nvPr/>
        </p:nvSpPr>
        <p:spPr>
          <a:xfrm>
            <a:off x="3977639" y="1655064"/>
            <a:ext cx="25548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M2 unsupervised</a:t>
            </a:r>
            <a:endParaRPr lang="en-US" sz="760"/>
          </a:p>
        </p:txBody>
      </p:sp>
      <p:sp>
        <p:nvSpPr>
          <p:cNvPr id="15" name="Shape 15"/>
          <p:cNvSpPr/>
          <p:nvPr/>
        </p:nvSpPr>
        <p:spPr>
          <a:xfrm>
            <a:off x="6578192" y="1700784"/>
            <a:ext cx="346740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6578192" y="1700784"/>
            <a:ext cx="2347758" cy="109728"/>
          </a:xfrm>
          <a:prstGeom prst="rect">
            <a:avLst/>
          </a:prstGeom>
          <a:solidFill>
            <a:srgbClr val="2F67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0137036" y="1645920"/>
            <a:ext cx="10835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67.71%</a:t>
            </a:r>
            <a:endParaRPr lang="en-US" sz="800"/>
          </a:p>
        </p:txBody>
      </p:sp>
      <p:sp>
        <p:nvSpPr>
          <p:cNvPr id="18" name="Text 18"/>
          <p:cNvSpPr txBox="1"/>
          <p:nvPr/>
        </p:nvSpPr>
        <p:spPr>
          <a:xfrm>
            <a:off x="3977639" y="1929384"/>
            <a:ext cx="25548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M2 unsupervised</a:t>
            </a:r>
            <a:endParaRPr lang="en-US" sz="760"/>
          </a:p>
        </p:txBody>
      </p:sp>
      <p:sp>
        <p:nvSpPr>
          <p:cNvPr id="19" name="Shape 19"/>
          <p:cNvSpPr/>
          <p:nvPr/>
        </p:nvSpPr>
        <p:spPr>
          <a:xfrm>
            <a:off x="6578192" y="1975104"/>
            <a:ext cx="346740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6578192" y="1975104"/>
            <a:ext cx="2350752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10137036" y="1920240"/>
            <a:ext cx="10835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67.80%</a:t>
            </a:r>
            <a:endParaRPr lang="en-US" sz="800"/>
          </a:p>
        </p:txBody>
      </p:sp>
      <p:sp>
        <p:nvSpPr>
          <p:cNvPr id="22" name="Text 22"/>
          <p:cNvSpPr txBox="1"/>
          <p:nvPr/>
        </p:nvSpPr>
        <p:spPr>
          <a:xfrm>
            <a:off x="3977639" y="2203704"/>
            <a:ext cx="25548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M3 semi-supervised</a:t>
            </a:r>
            <a:endParaRPr lang="en-US" sz="760"/>
          </a:p>
        </p:txBody>
      </p:sp>
      <p:sp>
        <p:nvSpPr>
          <p:cNvPr id="23" name="Shape 23"/>
          <p:cNvSpPr/>
          <p:nvPr/>
        </p:nvSpPr>
        <p:spPr>
          <a:xfrm>
            <a:off x="6578192" y="2249424"/>
            <a:ext cx="346740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6578192" y="2249424"/>
            <a:ext cx="3059847" cy="109728"/>
          </a:xfrm>
          <a:prstGeom prst="rect">
            <a:avLst/>
          </a:prstGeom>
          <a:solidFill>
            <a:srgbClr val="D89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10137036" y="2194560"/>
            <a:ext cx="10835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88.25%</a:t>
            </a:r>
            <a:endParaRPr lang="en-US" sz="800"/>
          </a:p>
        </p:txBody>
      </p:sp>
      <p:sp>
        <p:nvSpPr>
          <p:cNvPr id="26" name="Text 26"/>
          <p:cNvSpPr txBox="1"/>
          <p:nvPr/>
        </p:nvSpPr>
        <p:spPr>
          <a:xfrm>
            <a:off x="3977639" y="2478024"/>
            <a:ext cx="25548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M4 self-supervised</a:t>
            </a:r>
            <a:endParaRPr lang="en-US" sz="760"/>
          </a:p>
        </p:txBody>
      </p:sp>
      <p:sp>
        <p:nvSpPr>
          <p:cNvPr id="27" name="Shape 27"/>
          <p:cNvSpPr/>
          <p:nvPr/>
        </p:nvSpPr>
        <p:spPr>
          <a:xfrm>
            <a:off x="6578192" y="2523744"/>
            <a:ext cx="346740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6578192" y="2523744"/>
            <a:ext cx="2239936" cy="109728"/>
          </a:xfrm>
          <a:prstGeom prst="rect">
            <a:avLst/>
          </a:prstGeom>
          <a:solidFill>
            <a:srgbClr val="6E5AA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10137036" y="2468880"/>
            <a:ext cx="10835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64.60%</a:t>
            </a:r>
            <a:endParaRPr lang="en-US" sz="800"/>
          </a:p>
        </p:txBody>
      </p:sp>
      <p:sp>
        <p:nvSpPr>
          <p:cNvPr id="30" name="Text 30"/>
          <p:cNvSpPr txBox="1"/>
          <p:nvPr/>
        </p:nvSpPr>
        <p:spPr>
          <a:xfrm>
            <a:off x="3977639" y="2752344"/>
            <a:ext cx="25548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M5 supervised</a:t>
            </a:r>
            <a:endParaRPr lang="en-US" sz="760"/>
          </a:p>
        </p:txBody>
      </p:sp>
      <p:sp>
        <p:nvSpPr>
          <p:cNvPr id="31" name="Shape 31"/>
          <p:cNvSpPr/>
          <p:nvPr/>
        </p:nvSpPr>
        <p:spPr>
          <a:xfrm>
            <a:off x="6578192" y="2798064"/>
            <a:ext cx="346740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6578192" y="2798064"/>
            <a:ext cx="1681008" cy="109728"/>
          </a:xfrm>
          <a:prstGeom prst="rect">
            <a:avLst/>
          </a:prstGeom>
          <a:solidFill>
            <a:srgbClr val="B84A39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10137036" y="2743200"/>
            <a:ext cx="10835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48.48%</a:t>
            </a:r>
            <a:endParaRPr lang="en-US" sz="800"/>
          </a:p>
        </p:txBody>
      </p:sp>
      <p:sp>
        <p:nvSpPr>
          <p:cNvPr id="34" name="Text 34"/>
          <p:cNvSpPr txBox="1"/>
          <p:nvPr/>
        </p:nvSpPr>
        <p:spPr>
          <a:xfrm>
            <a:off x="3977639" y="3026664"/>
            <a:ext cx="25548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M6 unsupervised</a:t>
            </a:r>
            <a:endParaRPr lang="en-US" sz="760"/>
          </a:p>
        </p:txBody>
      </p:sp>
      <p:sp>
        <p:nvSpPr>
          <p:cNvPr id="35" name="Shape 35"/>
          <p:cNvSpPr/>
          <p:nvPr/>
        </p:nvSpPr>
        <p:spPr>
          <a:xfrm>
            <a:off x="6578192" y="3072384"/>
            <a:ext cx="346740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Shape 36"/>
          <p:cNvSpPr/>
          <p:nvPr/>
        </p:nvSpPr>
        <p:spPr>
          <a:xfrm>
            <a:off x="6578192" y="3072384"/>
            <a:ext cx="1287460" cy="109728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10137036" y="3017520"/>
            <a:ext cx="10835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37.13%</a:t>
            </a:r>
            <a:endParaRPr lang="en-US" sz="800"/>
          </a:p>
        </p:txBody>
      </p:sp>
      <p:sp>
        <p:nvSpPr>
          <p:cNvPr id="38" name="Text 38"/>
          <p:cNvSpPr txBox="1"/>
          <p:nvPr/>
        </p:nvSpPr>
        <p:spPr>
          <a:xfrm>
            <a:off x="3977639" y="3300984"/>
            <a:ext cx="25548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M7 semi-supervised</a:t>
            </a:r>
            <a:endParaRPr lang="en-US" sz="760"/>
          </a:p>
        </p:txBody>
      </p:sp>
      <p:sp>
        <p:nvSpPr>
          <p:cNvPr id="39" name="Shape 39"/>
          <p:cNvSpPr/>
          <p:nvPr/>
        </p:nvSpPr>
        <p:spPr>
          <a:xfrm>
            <a:off x="6578192" y="3346704"/>
            <a:ext cx="346740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Shape 40"/>
          <p:cNvSpPr/>
          <p:nvPr/>
        </p:nvSpPr>
        <p:spPr>
          <a:xfrm>
            <a:off x="6578192" y="3346704"/>
            <a:ext cx="1502469" cy="109728"/>
          </a:xfrm>
          <a:prstGeom prst="rect">
            <a:avLst/>
          </a:prstGeom>
          <a:solidFill>
            <a:srgbClr val="2F67B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10137036" y="3291840"/>
            <a:ext cx="10835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43.33%</a:t>
            </a:r>
            <a:endParaRPr lang="en-US" sz="800"/>
          </a:p>
        </p:txBody>
      </p:sp>
      <p:sp>
        <p:nvSpPr>
          <p:cNvPr id="42" name="Text 42"/>
          <p:cNvSpPr txBox="1"/>
          <p:nvPr/>
        </p:nvSpPr>
        <p:spPr>
          <a:xfrm>
            <a:off x="3977639" y="3575304"/>
            <a:ext cx="25548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M8 self-supervised</a:t>
            </a:r>
            <a:endParaRPr lang="en-US" sz="760"/>
          </a:p>
        </p:txBody>
      </p:sp>
      <p:sp>
        <p:nvSpPr>
          <p:cNvPr id="43" name="Shape 43"/>
          <p:cNvSpPr/>
          <p:nvPr/>
        </p:nvSpPr>
        <p:spPr>
          <a:xfrm>
            <a:off x="6578192" y="3621024"/>
            <a:ext cx="346740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Shape 44"/>
          <p:cNvSpPr/>
          <p:nvPr/>
        </p:nvSpPr>
        <p:spPr>
          <a:xfrm>
            <a:off x="6578192" y="3621024"/>
            <a:ext cx="1297207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10137036" y="3566160"/>
            <a:ext cx="10835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37.41%</a:t>
            </a:r>
            <a:endParaRPr lang="en-US" sz="800"/>
          </a:p>
        </p:txBody>
      </p:sp>
      <p:sp>
        <p:nvSpPr>
          <p:cNvPr id="46" name="Shape 46"/>
          <p:cNvSpPr/>
          <p:nvPr/>
        </p:nvSpPr>
        <p:spPr>
          <a:xfrm>
            <a:off x="594360" y="3657600"/>
            <a:ext cx="1079291" cy="283464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640080" y="3694176"/>
            <a:ext cx="987851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1">
                <a:solidFill>
                  <a:srgbClr val="20242A"/>
                </a:solidFill>
                <a:latin typeface="Aptos"/>
              </a:rPr>
              <a:t>ID</a:t>
            </a:r>
            <a:endParaRPr lang="en-US" sz="720"/>
          </a:p>
        </p:txBody>
      </p:sp>
      <p:sp>
        <p:nvSpPr>
          <p:cNvPr id="48" name="Shape 48"/>
          <p:cNvSpPr/>
          <p:nvPr/>
        </p:nvSpPr>
        <p:spPr>
          <a:xfrm>
            <a:off x="1673651" y="3657600"/>
            <a:ext cx="3237875" cy="283464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1719371" y="3694176"/>
            <a:ext cx="314643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1">
                <a:solidFill>
                  <a:srgbClr val="20242A"/>
                </a:solidFill>
                <a:latin typeface="Aptos"/>
              </a:rPr>
              <a:t>pair</a:t>
            </a:r>
            <a:endParaRPr lang="en-US" sz="720"/>
          </a:p>
        </p:txBody>
      </p:sp>
      <p:sp>
        <p:nvSpPr>
          <p:cNvPr id="50" name="Shape 50"/>
          <p:cNvSpPr/>
          <p:nvPr/>
        </p:nvSpPr>
        <p:spPr>
          <a:xfrm>
            <a:off x="4911526" y="3657600"/>
            <a:ext cx="2698229" cy="283464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4957246" y="3694176"/>
            <a:ext cx="2606789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1">
                <a:solidFill>
                  <a:srgbClr val="20242A"/>
                </a:solidFill>
                <a:latin typeface="Aptos"/>
              </a:rPr>
              <a:t>mode</a:t>
            </a:r>
            <a:endParaRPr lang="en-US" sz="720"/>
          </a:p>
        </p:txBody>
      </p:sp>
      <p:sp>
        <p:nvSpPr>
          <p:cNvPr id="52" name="Shape 52"/>
          <p:cNvSpPr/>
          <p:nvPr/>
        </p:nvSpPr>
        <p:spPr>
          <a:xfrm>
            <a:off x="7609755" y="3657600"/>
            <a:ext cx="1259173" cy="283464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7655475" y="3694176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1">
                <a:solidFill>
                  <a:srgbClr val="20242A"/>
                </a:solidFill>
                <a:latin typeface="Aptos"/>
              </a:rPr>
              <a:t>PSNR</a:t>
            </a:r>
            <a:endParaRPr lang="en-US" sz="720"/>
          </a:p>
        </p:txBody>
      </p:sp>
      <p:sp>
        <p:nvSpPr>
          <p:cNvPr id="54" name="Shape 54"/>
          <p:cNvSpPr/>
          <p:nvPr/>
        </p:nvSpPr>
        <p:spPr>
          <a:xfrm>
            <a:off x="8868928" y="3657600"/>
            <a:ext cx="1259173" cy="283464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8914648" y="3694176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1">
                <a:solidFill>
                  <a:srgbClr val="20242A"/>
                </a:solidFill>
                <a:latin typeface="Aptos"/>
              </a:rPr>
              <a:t>SSIM</a:t>
            </a:r>
            <a:endParaRPr lang="en-US" sz="720"/>
          </a:p>
        </p:txBody>
      </p:sp>
      <p:sp>
        <p:nvSpPr>
          <p:cNvPr id="56" name="Shape 56"/>
          <p:cNvSpPr/>
          <p:nvPr/>
        </p:nvSpPr>
        <p:spPr>
          <a:xfrm>
            <a:off x="10128101" y="3657600"/>
            <a:ext cx="1439055" cy="283464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10173821" y="3694176"/>
            <a:ext cx="134761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1">
                <a:solidFill>
                  <a:srgbClr val="20242A"/>
                </a:solidFill>
                <a:latin typeface="Aptos"/>
              </a:rPr>
              <a:t>handoff</a:t>
            </a:r>
            <a:endParaRPr lang="en-US" sz="720"/>
          </a:p>
        </p:txBody>
      </p:sp>
      <p:sp>
        <p:nvSpPr>
          <p:cNvPr id="58" name="Shape 58"/>
          <p:cNvSpPr/>
          <p:nvPr/>
        </p:nvSpPr>
        <p:spPr>
          <a:xfrm>
            <a:off x="594360" y="3941064"/>
            <a:ext cx="1079291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640080" y="3977640"/>
            <a:ext cx="987851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M1</a:t>
            </a:r>
            <a:endParaRPr lang="en-US" sz="720"/>
          </a:p>
        </p:txBody>
      </p:sp>
      <p:sp>
        <p:nvSpPr>
          <p:cNvPr id="60" name="Shape 60"/>
          <p:cNvSpPr/>
          <p:nvPr/>
        </p:nvSpPr>
        <p:spPr>
          <a:xfrm>
            <a:off x="1673651" y="3941064"/>
            <a:ext cx="323787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1719371" y="3977640"/>
            <a:ext cx="314643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corrupted -&gt; to -&gt; normal</a:t>
            </a:r>
            <a:endParaRPr lang="en-US" sz="720"/>
          </a:p>
        </p:txBody>
      </p:sp>
      <p:sp>
        <p:nvSpPr>
          <p:cNvPr id="62" name="Shape 62"/>
          <p:cNvSpPr/>
          <p:nvPr/>
        </p:nvSpPr>
        <p:spPr>
          <a:xfrm>
            <a:off x="4911526" y="3941064"/>
            <a:ext cx="2698229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4957246" y="3977640"/>
            <a:ext cx="2606789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supervised</a:t>
            </a:r>
            <a:endParaRPr lang="en-US" sz="720"/>
          </a:p>
        </p:txBody>
      </p:sp>
      <p:sp>
        <p:nvSpPr>
          <p:cNvPr id="64" name="Shape 64"/>
          <p:cNvSpPr/>
          <p:nvPr/>
        </p:nvSpPr>
        <p:spPr>
          <a:xfrm>
            <a:off x="7609755" y="3941064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7655475" y="3977640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22.95</a:t>
            </a:r>
            <a:endParaRPr lang="en-US" sz="720"/>
          </a:p>
        </p:txBody>
      </p:sp>
      <p:sp>
        <p:nvSpPr>
          <p:cNvPr id="66" name="Shape 66"/>
          <p:cNvSpPr/>
          <p:nvPr/>
        </p:nvSpPr>
        <p:spPr>
          <a:xfrm>
            <a:off x="8868928" y="3941064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7" name="Text 67"/>
          <p:cNvSpPr txBox="1"/>
          <p:nvPr/>
        </p:nvSpPr>
        <p:spPr>
          <a:xfrm>
            <a:off x="8914648" y="3977640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0.870</a:t>
            </a:r>
            <a:endParaRPr lang="en-US" sz="720"/>
          </a:p>
        </p:txBody>
      </p:sp>
      <p:sp>
        <p:nvSpPr>
          <p:cNvPr id="68" name="Shape 68"/>
          <p:cNvSpPr/>
          <p:nvPr/>
        </p:nvSpPr>
        <p:spPr>
          <a:xfrm>
            <a:off x="10128101" y="3941064"/>
            <a:ext cx="143905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9" name="Text 69"/>
          <p:cNvSpPr txBox="1"/>
          <p:nvPr/>
        </p:nvSpPr>
        <p:spPr>
          <a:xfrm>
            <a:off x="10173821" y="3977640"/>
            <a:ext cx="134761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yes</a:t>
            </a:r>
            <a:endParaRPr lang="en-US" sz="720"/>
          </a:p>
        </p:txBody>
      </p:sp>
      <p:sp>
        <p:nvSpPr>
          <p:cNvPr id="70" name="Shape 70"/>
          <p:cNvSpPr/>
          <p:nvPr/>
        </p:nvSpPr>
        <p:spPr>
          <a:xfrm>
            <a:off x="594360" y="4224528"/>
            <a:ext cx="1079291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1" name="Text 71"/>
          <p:cNvSpPr txBox="1"/>
          <p:nvPr/>
        </p:nvSpPr>
        <p:spPr>
          <a:xfrm>
            <a:off x="640080" y="4261104"/>
            <a:ext cx="987851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M2</a:t>
            </a:r>
            <a:endParaRPr lang="en-US" sz="720"/>
          </a:p>
        </p:txBody>
      </p:sp>
      <p:sp>
        <p:nvSpPr>
          <p:cNvPr id="72" name="Shape 72"/>
          <p:cNvSpPr/>
          <p:nvPr/>
        </p:nvSpPr>
        <p:spPr>
          <a:xfrm>
            <a:off x="1673651" y="4224528"/>
            <a:ext cx="323787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3" name="Text 73"/>
          <p:cNvSpPr txBox="1"/>
          <p:nvPr/>
        </p:nvSpPr>
        <p:spPr>
          <a:xfrm>
            <a:off x="1719371" y="4261104"/>
            <a:ext cx="314643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corrupted -&gt; to -&gt; normal</a:t>
            </a:r>
            <a:endParaRPr lang="en-US" sz="720"/>
          </a:p>
        </p:txBody>
      </p:sp>
      <p:sp>
        <p:nvSpPr>
          <p:cNvPr id="74" name="Shape 74"/>
          <p:cNvSpPr/>
          <p:nvPr/>
        </p:nvSpPr>
        <p:spPr>
          <a:xfrm>
            <a:off x="4911526" y="4224528"/>
            <a:ext cx="2698229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5" name="Text 75"/>
          <p:cNvSpPr txBox="1"/>
          <p:nvPr/>
        </p:nvSpPr>
        <p:spPr>
          <a:xfrm>
            <a:off x="4957246" y="4261104"/>
            <a:ext cx="2606789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unsupervised</a:t>
            </a:r>
            <a:endParaRPr lang="en-US" sz="720"/>
          </a:p>
        </p:txBody>
      </p:sp>
      <p:sp>
        <p:nvSpPr>
          <p:cNvPr id="76" name="Shape 76"/>
          <p:cNvSpPr/>
          <p:nvPr/>
        </p:nvSpPr>
        <p:spPr>
          <a:xfrm>
            <a:off x="7609755" y="4224528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7" name="Text 77"/>
          <p:cNvSpPr txBox="1"/>
          <p:nvPr/>
        </p:nvSpPr>
        <p:spPr>
          <a:xfrm>
            <a:off x="7655475" y="4261104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15.54</a:t>
            </a:r>
            <a:endParaRPr lang="en-US" sz="720"/>
          </a:p>
        </p:txBody>
      </p:sp>
      <p:sp>
        <p:nvSpPr>
          <p:cNvPr id="78" name="Shape 78"/>
          <p:cNvSpPr/>
          <p:nvPr/>
        </p:nvSpPr>
        <p:spPr>
          <a:xfrm>
            <a:off x="8868928" y="4224528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9" name="Text 79"/>
          <p:cNvSpPr txBox="1"/>
          <p:nvPr/>
        </p:nvSpPr>
        <p:spPr>
          <a:xfrm>
            <a:off x="8914648" y="4261104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0.485</a:t>
            </a:r>
            <a:endParaRPr lang="en-US" sz="720"/>
          </a:p>
        </p:txBody>
      </p:sp>
      <p:sp>
        <p:nvSpPr>
          <p:cNvPr id="80" name="Shape 80"/>
          <p:cNvSpPr/>
          <p:nvPr/>
        </p:nvSpPr>
        <p:spPr>
          <a:xfrm>
            <a:off x="10128101" y="4224528"/>
            <a:ext cx="143905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1" name="Text 81"/>
          <p:cNvSpPr txBox="1"/>
          <p:nvPr/>
        </p:nvSpPr>
        <p:spPr>
          <a:xfrm>
            <a:off x="10173821" y="4261104"/>
            <a:ext cx="134761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</a:t>
            </a:r>
            <a:endParaRPr lang="en-US" sz="720"/>
          </a:p>
        </p:txBody>
      </p:sp>
      <p:sp>
        <p:nvSpPr>
          <p:cNvPr id="82" name="Shape 82"/>
          <p:cNvSpPr/>
          <p:nvPr/>
        </p:nvSpPr>
        <p:spPr>
          <a:xfrm>
            <a:off x="594360" y="4507992"/>
            <a:ext cx="1079291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3" name="Text 83"/>
          <p:cNvSpPr txBox="1"/>
          <p:nvPr/>
        </p:nvSpPr>
        <p:spPr>
          <a:xfrm>
            <a:off x="640080" y="4544568"/>
            <a:ext cx="987851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M2</a:t>
            </a:r>
            <a:endParaRPr lang="en-US" sz="720"/>
          </a:p>
        </p:txBody>
      </p:sp>
      <p:sp>
        <p:nvSpPr>
          <p:cNvPr id="84" name="Shape 84"/>
          <p:cNvSpPr/>
          <p:nvPr/>
        </p:nvSpPr>
        <p:spPr>
          <a:xfrm>
            <a:off x="1673651" y="4507992"/>
            <a:ext cx="323787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5" name="Text 85"/>
          <p:cNvSpPr txBox="1"/>
          <p:nvPr/>
        </p:nvSpPr>
        <p:spPr>
          <a:xfrm>
            <a:off x="1719371" y="4544568"/>
            <a:ext cx="314643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corrupted -&gt; to -&gt; normal</a:t>
            </a:r>
            <a:endParaRPr lang="en-US" sz="720"/>
          </a:p>
        </p:txBody>
      </p:sp>
      <p:sp>
        <p:nvSpPr>
          <p:cNvPr id="86" name="Shape 86"/>
          <p:cNvSpPr/>
          <p:nvPr/>
        </p:nvSpPr>
        <p:spPr>
          <a:xfrm>
            <a:off x="4911526" y="4507992"/>
            <a:ext cx="2698229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7" name="Text 87"/>
          <p:cNvSpPr txBox="1"/>
          <p:nvPr/>
        </p:nvSpPr>
        <p:spPr>
          <a:xfrm>
            <a:off x="4957246" y="4544568"/>
            <a:ext cx="2606789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unsupervised</a:t>
            </a:r>
            <a:endParaRPr lang="en-US" sz="720"/>
          </a:p>
        </p:txBody>
      </p:sp>
      <p:sp>
        <p:nvSpPr>
          <p:cNvPr id="88" name="Shape 88"/>
          <p:cNvSpPr/>
          <p:nvPr/>
        </p:nvSpPr>
        <p:spPr>
          <a:xfrm>
            <a:off x="7609755" y="4507992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9" name="Text 89"/>
          <p:cNvSpPr txBox="1"/>
          <p:nvPr/>
        </p:nvSpPr>
        <p:spPr>
          <a:xfrm>
            <a:off x="7655475" y="4544568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15.56</a:t>
            </a:r>
            <a:endParaRPr lang="en-US" sz="720"/>
          </a:p>
        </p:txBody>
      </p:sp>
      <p:sp>
        <p:nvSpPr>
          <p:cNvPr id="90" name="Shape 90"/>
          <p:cNvSpPr/>
          <p:nvPr/>
        </p:nvSpPr>
        <p:spPr>
          <a:xfrm>
            <a:off x="8868928" y="4507992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1" name="Text 91"/>
          <p:cNvSpPr txBox="1"/>
          <p:nvPr/>
        </p:nvSpPr>
        <p:spPr>
          <a:xfrm>
            <a:off x="8914648" y="4544568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0.490</a:t>
            </a:r>
            <a:endParaRPr lang="en-US" sz="720"/>
          </a:p>
        </p:txBody>
      </p:sp>
      <p:sp>
        <p:nvSpPr>
          <p:cNvPr id="92" name="Shape 92"/>
          <p:cNvSpPr/>
          <p:nvPr/>
        </p:nvSpPr>
        <p:spPr>
          <a:xfrm>
            <a:off x="10128101" y="4507992"/>
            <a:ext cx="143905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3" name="Text 93"/>
          <p:cNvSpPr txBox="1"/>
          <p:nvPr/>
        </p:nvSpPr>
        <p:spPr>
          <a:xfrm>
            <a:off x="10173821" y="4544568"/>
            <a:ext cx="134761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</a:t>
            </a:r>
            <a:endParaRPr lang="en-US" sz="720"/>
          </a:p>
        </p:txBody>
      </p:sp>
      <p:sp>
        <p:nvSpPr>
          <p:cNvPr id="94" name="Shape 94"/>
          <p:cNvSpPr/>
          <p:nvPr/>
        </p:nvSpPr>
        <p:spPr>
          <a:xfrm>
            <a:off x="594360" y="4791456"/>
            <a:ext cx="1079291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5" name="Text 95"/>
          <p:cNvSpPr txBox="1"/>
          <p:nvPr/>
        </p:nvSpPr>
        <p:spPr>
          <a:xfrm>
            <a:off x="640080" y="4828032"/>
            <a:ext cx="987851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M3</a:t>
            </a:r>
            <a:endParaRPr lang="en-US" sz="720"/>
          </a:p>
        </p:txBody>
      </p:sp>
      <p:sp>
        <p:nvSpPr>
          <p:cNvPr id="96" name="Shape 96"/>
          <p:cNvSpPr/>
          <p:nvPr/>
        </p:nvSpPr>
        <p:spPr>
          <a:xfrm>
            <a:off x="1673651" y="4791456"/>
            <a:ext cx="323787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7" name="Text 97"/>
          <p:cNvSpPr txBox="1"/>
          <p:nvPr/>
        </p:nvSpPr>
        <p:spPr>
          <a:xfrm>
            <a:off x="1719371" y="4828032"/>
            <a:ext cx="314643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corrupted -&gt; to -&gt; normal</a:t>
            </a:r>
            <a:endParaRPr lang="en-US" sz="720"/>
          </a:p>
        </p:txBody>
      </p:sp>
      <p:sp>
        <p:nvSpPr>
          <p:cNvPr id="98" name="Shape 98"/>
          <p:cNvSpPr/>
          <p:nvPr/>
        </p:nvSpPr>
        <p:spPr>
          <a:xfrm>
            <a:off x="4911526" y="4791456"/>
            <a:ext cx="2698229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9" name="Text 99"/>
          <p:cNvSpPr txBox="1"/>
          <p:nvPr/>
        </p:nvSpPr>
        <p:spPr>
          <a:xfrm>
            <a:off x="4957246" y="4828032"/>
            <a:ext cx="2606789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semi-supervised</a:t>
            </a:r>
            <a:endParaRPr lang="en-US" sz="720"/>
          </a:p>
        </p:txBody>
      </p:sp>
      <p:sp>
        <p:nvSpPr>
          <p:cNvPr id="100" name="Shape 100"/>
          <p:cNvSpPr/>
          <p:nvPr/>
        </p:nvSpPr>
        <p:spPr>
          <a:xfrm>
            <a:off x="7609755" y="4791456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1" name="Text 101"/>
          <p:cNvSpPr txBox="1"/>
          <p:nvPr/>
        </p:nvSpPr>
        <p:spPr>
          <a:xfrm>
            <a:off x="7655475" y="4828032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20.25</a:t>
            </a:r>
            <a:endParaRPr lang="en-US" sz="720"/>
          </a:p>
        </p:txBody>
      </p:sp>
      <p:sp>
        <p:nvSpPr>
          <p:cNvPr id="102" name="Shape 102"/>
          <p:cNvSpPr/>
          <p:nvPr/>
        </p:nvSpPr>
        <p:spPr>
          <a:xfrm>
            <a:off x="8868928" y="4791456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3" name="Text 103"/>
          <p:cNvSpPr txBox="1"/>
          <p:nvPr/>
        </p:nvSpPr>
        <p:spPr>
          <a:xfrm>
            <a:off x="8914648" y="4828032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0.771</a:t>
            </a:r>
            <a:endParaRPr lang="en-US" sz="720"/>
          </a:p>
        </p:txBody>
      </p:sp>
      <p:sp>
        <p:nvSpPr>
          <p:cNvPr id="104" name="Shape 104"/>
          <p:cNvSpPr/>
          <p:nvPr/>
        </p:nvSpPr>
        <p:spPr>
          <a:xfrm>
            <a:off x="10128101" y="4791456"/>
            <a:ext cx="143905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5" name="Text 105"/>
          <p:cNvSpPr txBox="1"/>
          <p:nvPr/>
        </p:nvSpPr>
        <p:spPr>
          <a:xfrm>
            <a:off x="10173821" y="4828032"/>
            <a:ext cx="134761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</a:t>
            </a:r>
            <a:endParaRPr lang="en-US" sz="720"/>
          </a:p>
        </p:txBody>
      </p:sp>
      <p:sp>
        <p:nvSpPr>
          <p:cNvPr id="106" name="Shape 106"/>
          <p:cNvSpPr/>
          <p:nvPr/>
        </p:nvSpPr>
        <p:spPr>
          <a:xfrm>
            <a:off x="594360" y="5074920"/>
            <a:ext cx="1079291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7" name="Text 107"/>
          <p:cNvSpPr txBox="1"/>
          <p:nvPr/>
        </p:nvSpPr>
        <p:spPr>
          <a:xfrm>
            <a:off x="640080" y="5111496"/>
            <a:ext cx="987851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M4</a:t>
            </a:r>
            <a:endParaRPr lang="en-US" sz="720"/>
          </a:p>
        </p:txBody>
      </p:sp>
      <p:sp>
        <p:nvSpPr>
          <p:cNvPr id="108" name="Shape 108"/>
          <p:cNvSpPr/>
          <p:nvPr/>
        </p:nvSpPr>
        <p:spPr>
          <a:xfrm>
            <a:off x="1673651" y="5074920"/>
            <a:ext cx="323787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9" name="Text 109"/>
          <p:cNvSpPr txBox="1"/>
          <p:nvPr/>
        </p:nvSpPr>
        <p:spPr>
          <a:xfrm>
            <a:off x="1719371" y="5111496"/>
            <a:ext cx="314643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corrupted -&gt; to -&gt; normal</a:t>
            </a:r>
            <a:endParaRPr lang="en-US" sz="720"/>
          </a:p>
        </p:txBody>
      </p:sp>
      <p:sp>
        <p:nvSpPr>
          <p:cNvPr id="110" name="Shape 110"/>
          <p:cNvSpPr/>
          <p:nvPr/>
        </p:nvSpPr>
        <p:spPr>
          <a:xfrm>
            <a:off x="4911526" y="5074920"/>
            <a:ext cx="2698229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1" name="Text 111"/>
          <p:cNvSpPr txBox="1"/>
          <p:nvPr/>
        </p:nvSpPr>
        <p:spPr>
          <a:xfrm>
            <a:off x="4957246" y="5111496"/>
            <a:ext cx="2606789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self-supervised</a:t>
            </a:r>
            <a:endParaRPr lang="en-US" sz="720"/>
          </a:p>
        </p:txBody>
      </p:sp>
      <p:sp>
        <p:nvSpPr>
          <p:cNvPr id="112" name="Shape 112"/>
          <p:cNvSpPr/>
          <p:nvPr/>
        </p:nvSpPr>
        <p:spPr>
          <a:xfrm>
            <a:off x="7609755" y="5074920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3" name="Text 113"/>
          <p:cNvSpPr txBox="1"/>
          <p:nvPr/>
        </p:nvSpPr>
        <p:spPr>
          <a:xfrm>
            <a:off x="7655475" y="5111496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14.83</a:t>
            </a:r>
            <a:endParaRPr lang="en-US" sz="720"/>
          </a:p>
        </p:txBody>
      </p:sp>
      <p:sp>
        <p:nvSpPr>
          <p:cNvPr id="114" name="Shape 114"/>
          <p:cNvSpPr/>
          <p:nvPr/>
        </p:nvSpPr>
        <p:spPr>
          <a:xfrm>
            <a:off x="8868928" y="5074920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5" name="Text 115"/>
          <p:cNvSpPr txBox="1"/>
          <p:nvPr/>
        </p:nvSpPr>
        <p:spPr>
          <a:xfrm>
            <a:off x="8914648" y="5111496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0.515</a:t>
            </a:r>
            <a:endParaRPr lang="en-US" sz="720"/>
          </a:p>
        </p:txBody>
      </p:sp>
      <p:sp>
        <p:nvSpPr>
          <p:cNvPr id="116" name="Shape 116"/>
          <p:cNvSpPr/>
          <p:nvPr/>
        </p:nvSpPr>
        <p:spPr>
          <a:xfrm>
            <a:off x="10128101" y="5074920"/>
            <a:ext cx="143905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7" name="Text 117"/>
          <p:cNvSpPr txBox="1"/>
          <p:nvPr/>
        </p:nvSpPr>
        <p:spPr>
          <a:xfrm>
            <a:off x="10173821" y="5111496"/>
            <a:ext cx="134761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</a:t>
            </a:r>
            <a:endParaRPr lang="en-US" sz="720"/>
          </a:p>
        </p:txBody>
      </p:sp>
      <p:sp>
        <p:nvSpPr>
          <p:cNvPr id="118" name="Shape 118"/>
          <p:cNvSpPr/>
          <p:nvPr/>
        </p:nvSpPr>
        <p:spPr>
          <a:xfrm>
            <a:off x="594360" y="5358384"/>
            <a:ext cx="1079291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9" name="Text 119"/>
          <p:cNvSpPr txBox="1"/>
          <p:nvPr/>
        </p:nvSpPr>
        <p:spPr>
          <a:xfrm>
            <a:off x="640080" y="5394960"/>
            <a:ext cx="987851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M5</a:t>
            </a:r>
            <a:endParaRPr lang="en-US" sz="720"/>
          </a:p>
        </p:txBody>
      </p:sp>
      <p:sp>
        <p:nvSpPr>
          <p:cNvPr id="120" name="Shape 120"/>
          <p:cNvSpPr/>
          <p:nvPr/>
        </p:nvSpPr>
        <p:spPr>
          <a:xfrm>
            <a:off x="1673651" y="5358384"/>
            <a:ext cx="323787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1" name="Text 121"/>
          <p:cNvSpPr txBox="1"/>
          <p:nvPr/>
        </p:nvSpPr>
        <p:spPr>
          <a:xfrm>
            <a:off x="1719371" y="5394960"/>
            <a:ext cx="314643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normal -&gt; to -&gt; clean</a:t>
            </a:r>
            <a:endParaRPr lang="en-US" sz="720"/>
          </a:p>
        </p:txBody>
      </p:sp>
      <p:sp>
        <p:nvSpPr>
          <p:cNvPr id="122" name="Shape 122"/>
          <p:cNvSpPr/>
          <p:nvPr/>
        </p:nvSpPr>
        <p:spPr>
          <a:xfrm>
            <a:off x="4911526" y="5358384"/>
            <a:ext cx="2698229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3" name="Text 123"/>
          <p:cNvSpPr txBox="1"/>
          <p:nvPr/>
        </p:nvSpPr>
        <p:spPr>
          <a:xfrm>
            <a:off x="4957246" y="5394960"/>
            <a:ext cx="2606789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supervised</a:t>
            </a:r>
            <a:endParaRPr lang="en-US" sz="720"/>
          </a:p>
        </p:txBody>
      </p:sp>
      <p:sp>
        <p:nvSpPr>
          <p:cNvPr id="124" name="Shape 124"/>
          <p:cNvSpPr/>
          <p:nvPr/>
        </p:nvSpPr>
        <p:spPr>
          <a:xfrm>
            <a:off x="7609755" y="5358384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5" name="Text 125"/>
          <p:cNvSpPr txBox="1"/>
          <p:nvPr/>
        </p:nvSpPr>
        <p:spPr>
          <a:xfrm>
            <a:off x="7655475" y="5394960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11.13</a:t>
            </a:r>
            <a:endParaRPr lang="en-US" sz="720"/>
          </a:p>
        </p:txBody>
      </p:sp>
      <p:sp>
        <p:nvSpPr>
          <p:cNvPr id="126" name="Shape 126"/>
          <p:cNvSpPr/>
          <p:nvPr/>
        </p:nvSpPr>
        <p:spPr>
          <a:xfrm>
            <a:off x="8868928" y="5358384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7" name="Text 127"/>
          <p:cNvSpPr txBox="1"/>
          <p:nvPr/>
        </p:nvSpPr>
        <p:spPr>
          <a:xfrm>
            <a:off x="8914648" y="5394960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0.615</a:t>
            </a:r>
            <a:endParaRPr lang="en-US" sz="720"/>
          </a:p>
        </p:txBody>
      </p:sp>
      <p:sp>
        <p:nvSpPr>
          <p:cNvPr id="128" name="Shape 128"/>
          <p:cNvSpPr/>
          <p:nvPr/>
        </p:nvSpPr>
        <p:spPr>
          <a:xfrm>
            <a:off x="10128101" y="5358384"/>
            <a:ext cx="143905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9" name="Text 129"/>
          <p:cNvSpPr txBox="1"/>
          <p:nvPr/>
        </p:nvSpPr>
        <p:spPr>
          <a:xfrm>
            <a:off x="10173821" y="5394960"/>
            <a:ext cx="134761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</a:t>
            </a:r>
            <a:endParaRPr lang="en-US" sz="720"/>
          </a:p>
        </p:txBody>
      </p:sp>
      <p:sp>
        <p:nvSpPr>
          <p:cNvPr id="130" name="Shape 130"/>
          <p:cNvSpPr/>
          <p:nvPr/>
        </p:nvSpPr>
        <p:spPr>
          <a:xfrm>
            <a:off x="594360" y="5641848"/>
            <a:ext cx="1079291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1" name="Text 131"/>
          <p:cNvSpPr txBox="1"/>
          <p:nvPr/>
        </p:nvSpPr>
        <p:spPr>
          <a:xfrm>
            <a:off x="640080" y="5678424"/>
            <a:ext cx="987851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M6</a:t>
            </a:r>
            <a:endParaRPr lang="en-US" sz="720"/>
          </a:p>
        </p:txBody>
      </p:sp>
      <p:sp>
        <p:nvSpPr>
          <p:cNvPr id="132" name="Shape 132"/>
          <p:cNvSpPr/>
          <p:nvPr/>
        </p:nvSpPr>
        <p:spPr>
          <a:xfrm>
            <a:off x="1673651" y="5641848"/>
            <a:ext cx="323787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3" name="Text 133"/>
          <p:cNvSpPr txBox="1"/>
          <p:nvPr/>
        </p:nvSpPr>
        <p:spPr>
          <a:xfrm>
            <a:off x="1719371" y="5678424"/>
            <a:ext cx="314643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normal -&gt; to -&gt; clean</a:t>
            </a:r>
            <a:endParaRPr lang="en-US" sz="720"/>
          </a:p>
        </p:txBody>
      </p:sp>
      <p:sp>
        <p:nvSpPr>
          <p:cNvPr id="134" name="Shape 134"/>
          <p:cNvSpPr/>
          <p:nvPr/>
        </p:nvSpPr>
        <p:spPr>
          <a:xfrm>
            <a:off x="4911526" y="5641848"/>
            <a:ext cx="2698229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5" name="Text 135"/>
          <p:cNvSpPr txBox="1"/>
          <p:nvPr/>
        </p:nvSpPr>
        <p:spPr>
          <a:xfrm>
            <a:off x="4957246" y="5678424"/>
            <a:ext cx="2606789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unsupervised</a:t>
            </a:r>
            <a:endParaRPr lang="en-US" sz="720"/>
          </a:p>
        </p:txBody>
      </p:sp>
      <p:sp>
        <p:nvSpPr>
          <p:cNvPr id="136" name="Shape 136"/>
          <p:cNvSpPr/>
          <p:nvPr/>
        </p:nvSpPr>
        <p:spPr>
          <a:xfrm>
            <a:off x="7609755" y="5641848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7" name="Text 137"/>
          <p:cNvSpPr txBox="1"/>
          <p:nvPr/>
        </p:nvSpPr>
        <p:spPr>
          <a:xfrm>
            <a:off x="7655475" y="5678424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8.52</a:t>
            </a:r>
            <a:endParaRPr lang="en-US" sz="720"/>
          </a:p>
        </p:txBody>
      </p:sp>
      <p:sp>
        <p:nvSpPr>
          <p:cNvPr id="138" name="Shape 138"/>
          <p:cNvSpPr/>
          <p:nvPr/>
        </p:nvSpPr>
        <p:spPr>
          <a:xfrm>
            <a:off x="8868928" y="5641848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9" name="Text 139"/>
          <p:cNvSpPr txBox="1"/>
          <p:nvPr/>
        </p:nvSpPr>
        <p:spPr>
          <a:xfrm>
            <a:off x="8914648" y="5678424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0.311</a:t>
            </a:r>
            <a:endParaRPr lang="en-US" sz="720"/>
          </a:p>
        </p:txBody>
      </p:sp>
      <p:sp>
        <p:nvSpPr>
          <p:cNvPr id="140" name="Shape 140"/>
          <p:cNvSpPr/>
          <p:nvPr/>
        </p:nvSpPr>
        <p:spPr>
          <a:xfrm>
            <a:off x="10128101" y="5641848"/>
            <a:ext cx="143905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1" name="Text 141"/>
          <p:cNvSpPr txBox="1"/>
          <p:nvPr/>
        </p:nvSpPr>
        <p:spPr>
          <a:xfrm>
            <a:off x="10173821" y="5678424"/>
            <a:ext cx="134761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</a:t>
            </a:r>
            <a:endParaRPr lang="en-US" sz="720"/>
          </a:p>
        </p:txBody>
      </p:sp>
      <p:sp>
        <p:nvSpPr>
          <p:cNvPr id="142" name="Shape 142"/>
          <p:cNvSpPr/>
          <p:nvPr/>
        </p:nvSpPr>
        <p:spPr>
          <a:xfrm>
            <a:off x="594360" y="5925312"/>
            <a:ext cx="1079291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3" name="Text 143"/>
          <p:cNvSpPr txBox="1"/>
          <p:nvPr/>
        </p:nvSpPr>
        <p:spPr>
          <a:xfrm>
            <a:off x="640080" y="5961888"/>
            <a:ext cx="987851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M7</a:t>
            </a:r>
            <a:endParaRPr lang="en-US" sz="720"/>
          </a:p>
        </p:txBody>
      </p:sp>
      <p:sp>
        <p:nvSpPr>
          <p:cNvPr id="144" name="Shape 144"/>
          <p:cNvSpPr/>
          <p:nvPr/>
        </p:nvSpPr>
        <p:spPr>
          <a:xfrm>
            <a:off x="1673651" y="5925312"/>
            <a:ext cx="323787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5" name="Text 145"/>
          <p:cNvSpPr txBox="1"/>
          <p:nvPr/>
        </p:nvSpPr>
        <p:spPr>
          <a:xfrm>
            <a:off x="1719371" y="5961888"/>
            <a:ext cx="314643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normal -&gt; to -&gt; clean</a:t>
            </a:r>
            <a:endParaRPr lang="en-US" sz="720"/>
          </a:p>
        </p:txBody>
      </p:sp>
      <p:sp>
        <p:nvSpPr>
          <p:cNvPr id="146" name="Shape 146"/>
          <p:cNvSpPr/>
          <p:nvPr/>
        </p:nvSpPr>
        <p:spPr>
          <a:xfrm>
            <a:off x="4911526" y="5925312"/>
            <a:ext cx="2698229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7" name="Text 147"/>
          <p:cNvSpPr txBox="1"/>
          <p:nvPr/>
        </p:nvSpPr>
        <p:spPr>
          <a:xfrm>
            <a:off x="4957246" y="5961888"/>
            <a:ext cx="2606789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semi-supervised</a:t>
            </a:r>
            <a:endParaRPr lang="en-US" sz="720"/>
          </a:p>
        </p:txBody>
      </p:sp>
      <p:sp>
        <p:nvSpPr>
          <p:cNvPr id="148" name="Shape 148"/>
          <p:cNvSpPr/>
          <p:nvPr/>
        </p:nvSpPr>
        <p:spPr>
          <a:xfrm>
            <a:off x="7609755" y="5925312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9" name="Text 149"/>
          <p:cNvSpPr txBox="1"/>
          <p:nvPr/>
        </p:nvSpPr>
        <p:spPr>
          <a:xfrm>
            <a:off x="7655475" y="5961888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9.94</a:t>
            </a:r>
            <a:endParaRPr lang="en-US" sz="720"/>
          </a:p>
        </p:txBody>
      </p:sp>
      <p:sp>
        <p:nvSpPr>
          <p:cNvPr id="150" name="Shape 150"/>
          <p:cNvSpPr/>
          <p:nvPr/>
        </p:nvSpPr>
        <p:spPr>
          <a:xfrm>
            <a:off x="8868928" y="5925312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1" name="Text 151"/>
          <p:cNvSpPr txBox="1"/>
          <p:nvPr/>
        </p:nvSpPr>
        <p:spPr>
          <a:xfrm>
            <a:off x="8914648" y="5961888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0.531</a:t>
            </a:r>
            <a:endParaRPr lang="en-US" sz="720"/>
          </a:p>
        </p:txBody>
      </p:sp>
      <p:sp>
        <p:nvSpPr>
          <p:cNvPr id="152" name="Shape 152"/>
          <p:cNvSpPr/>
          <p:nvPr/>
        </p:nvSpPr>
        <p:spPr>
          <a:xfrm>
            <a:off x="10128101" y="5925312"/>
            <a:ext cx="143905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3" name="Text 153"/>
          <p:cNvSpPr txBox="1"/>
          <p:nvPr/>
        </p:nvSpPr>
        <p:spPr>
          <a:xfrm>
            <a:off x="10173821" y="5961888"/>
            <a:ext cx="134761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</a:t>
            </a:r>
            <a:endParaRPr lang="en-US" sz="720"/>
          </a:p>
        </p:txBody>
      </p:sp>
      <p:sp>
        <p:nvSpPr>
          <p:cNvPr id="154" name="Shape 154"/>
          <p:cNvSpPr/>
          <p:nvPr/>
        </p:nvSpPr>
        <p:spPr>
          <a:xfrm>
            <a:off x="594360" y="6208776"/>
            <a:ext cx="1079291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5" name="Text 155"/>
          <p:cNvSpPr txBox="1"/>
          <p:nvPr/>
        </p:nvSpPr>
        <p:spPr>
          <a:xfrm>
            <a:off x="640080" y="6245352"/>
            <a:ext cx="987851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M8</a:t>
            </a:r>
            <a:endParaRPr lang="en-US" sz="720"/>
          </a:p>
        </p:txBody>
      </p:sp>
      <p:sp>
        <p:nvSpPr>
          <p:cNvPr id="156" name="Shape 156"/>
          <p:cNvSpPr/>
          <p:nvPr/>
        </p:nvSpPr>
        <p:spPr>
          <a:xfrm>
            <a:off x="1673651" y="6208776"/>
            <a:ext cx="323787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7" name="Text 157"/>
          <p:cNvSpPr txBox="1"/>
          <p:nvPr/>
        </p:nvSpPr>
        <p:spPr>
          <a:xfrm>
            <a:off x="1719371" y="6245352"/>
            <a:ext cx="314643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normal -&gt; to -&gt; clean</a:t>
            </a:r>
            <a:endParaRPr lang="en-US" sz="720"/>
          </a:p>
        </p:txBody>
      </p:sp>
      <p:sp>
        <p:nvSpPr>
          <p:cNvPr id="158" name="Shape 158"/>
          <p:cNvSpPr/>
          <p:nvPr/>
        </p:nvSpPr>
        <p:spPr>
          <a:xfrm>
            <a:off x="4911526" y="6208776"/>
            <a:ext cx="2698229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9" name="Text 159"/>
          <p:cNvSpPr txBox="1"/>
          <p:nvPr/>
        </p:nvSpPr>
        <p:spPr>
          <a:xfrm>
            <a:off x="4957246" y="6245352"/>
            <a:ext cx="2606789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self-supervised</a:t>
            </a:r>
            <a:endParaRPr lang="en-US" sz="720"/>
          </a:p>
        </p:txBody>
      </p:sp>
      <p:sp>
        <p:nvSpPr>
          <p:cNvPr id="160" name="Shape 160"/>
          <p:cNvSpPr/>
          <p:nvPr/>
        </p:nvSpPr>
        <p:spPr>
          <a:xfrm>
            <a:off x="7609755" y="6208776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1" name="Text 161"/>
          <p:cNvSpPr txBox="1"/>
          <p:nvPr/>
        </p:nvSpPr>
        <p:spPr>
          <a:xfrm>
            <a:off x="7655475" y="6245352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8.59</a:t>
            </a:r>
            <a:endParaRPr lang="en-US" sz="720"/>
          </a:p>
        </p:txBody>
      </p:sp>
      <p:sp>
        <p:nvSpPr>
          <p:cNvPr id="162" name="Shape 162"/>
          <p:cNvSpPr/>
          <p:nvPr/>
        </p:nvSpPr>
        <p:spPr>
          <a:xfrm>
            <a:off x="8868928" y="6208776"/>
            <a:ext cx="1259173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3" name="Text 163"/>
          <p:cNvSpPr txBox="1"/>
          <p:nvPr/>
        </p:nvSpPr>
        <p:spPr>
          <a:xfrm>
            <a:off x="8914648" y="6245352"/>
            <a:ext cx="1167733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0.311</a:t>
            </a:r>
            <a:endParaRPr lang="en-US" sz="720"/>
          </a:p>
        </p:txBody>
      </p:sp>
      <p:sp>
        <p:nvSpPr>
          <p:cNvPr id="164" name="Shape 164"/>
          <p:cNvSpPr/>
          <p:nvPr/>
        </p:nvSpPr>
        <p:spPr>
          <a:xfrm>
            <a:off x="10128101" y="6208776"/>
            <a:ext cx="1439055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65" name="Text 165"/>
          <p:cNvSpPr txBox="1"/>
          <p:nvPr/>
        </p:nvSpPr>
        <p:spPr>
          <a:xfrm>
            <a:off x="10173821" y="6245352"/>
            <a:ext cx="1347615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20" b="0">
                <a:solidFill>
                  <a:srgbClr val="5B6573"/>
                </a:solidFill>
                <a:latin typeface="Aptos"/>
              </a:rPr>
              <a:t>no</a:t>
            </a:r>
            <a:endParaRPr lang="en-US" sz="7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1">
                <a:solidFill>
                  <a:srgbClr val="20242A"/>
                </a:solidFill>
                <a:latin typeface="Aptos"/>
              </a:rPr>
              <a:t>B result - sequence recognition</a:t>
            </a:r>
            <a:endParaRPr lang="en-US" sz="2400"/>
          </a:p>
        </p:txBody>
      </p:sp>
      <p:sp>
        <p:nvSpPr>
          <p:cNvPr id="4" name="Text 4"/>
          <p:cNvSpPr txBox="1"/>
          <p:nvPr/>
        </p:nvSpPr>
        <p:spPr>
          <a:xfrm>
            <a:off x="8961120" y="347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900" b="0">
                <a:solidFill>
                  <a:srgbClr val="5B6573"/>
                </a:solidFill>
                <a:latin typeface="Aptos"/>
              </a:rPr>
              <a:t>last epoch</a:t>
            </a:r>
            <a:endParaRPr lang="en-US" sz="900"/>
          </a:p>
        </p:txBody>
      </p:sp>
      <p:sp>
        <p:nvSpPr>
          <p:cNvPr id="5" name="Shape 5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594360" y="1005840"/>
            <a:ext cx="3200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777240" y="115214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 b="1">
                <a:solidFill>
                  <a:srgbClr val="5B6573"/>
                </a:solidFill>
                <a:latin typeface="Aptos"/>
              </a:rPr>
              <a:t>Best sequence accuracy</a:t>
            </a:r>
            <a:endParaRPr lang="en-US" sz="1100"/>
          </a:p>
        </p:txBody>
      </p:sp>
      <p:sp>
        <p:nvSpPr>
          <p:cNvPr id="8" name="Text 8"/>
          <p:cNvSpPr txBox="1"/>
          <p:nvPr/>
        </p:nvSpPr>
        <p:spPr>
          <a:xfrm>
            <a:off x="777240" y="14447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B2_02 Transformer contrastive</a:t>
            </a:r>
            <a:endParaRPr lang="en-US" sz="1200"/>
          </a:p>
        </p:txBody>
      </p:sp>
      <p:sp>
        <p:nvSpPr>
          <p:cNvPr id="9" name="Text 9"/>
          <p:cNvSpPr txBox="1"/>
          <p:nvPr/>
        </p:nvSpPr>
        <p:spPr>
          <a:xfrm>
            <a:off x="777240" y="17190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168A8F"/>
                </a:solidFill>
                <a:latin typeface="Aptos"/>
              </a:rPr>
              <a:t>98.47% seq / 99.66% char</a:t>
            </a:r>
            <a:endParaRPr lang="en-US" sz="1000"/>
          </a:p>
        </p:txBody>
      </p:sp>
      <p:sp>
        <p:nvSpPr>
          <p:cNvPr id="10" name="Text 10"/>
          <p:cNvSpPr txBox="1"/>
          <p:nvPr/>
        </p:nvSpPr>
        <p:spPr>
          <a:xfrm>
            <a:off x="4069080" y="9601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Test sequence accuracy</a:t>
            </a:r>
            <a:endParaRPr lang="en-US" sz="1200"/>
          </a:p>
        </p:txBody>
      </p:sp>
      <p:sp>
        <p:nvSpPr>
          <p:cNvPr id="11" name="Text 11"/>
          <p:cNvSpPr txBox="1"/>
          <p:nvPr/>
        </p:nvSpPr>
        <p:spPr>
          <a:xfrm>
            <a:off x="4069080" y="1335024"/>
            <a:ext cx="2521915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B2_02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6636715" y="1380744"/>
            <a:ext cx="3423513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6636715" y="1380744"/>
            <a:ext cx="3371247" cy="109728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0151668" y="1325880"/>
            <a:ext cx="1069848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98.47%</a:t>
            </a:r>
            <a:endParaRPr lang="en-US" sz="800"/>
          </a:p>
        </p:txBody>
      </p:sp>
      <p:sp>
        <p:nvSpPr>
          <p:cNvPr id="15" name="Text 15"/>
          <p:cNvSpPr txBox="1"/>
          <p:nvPr/>
        </p:nvSpPr>
        <p:spPr>
          <a:xfrm>
            <a:off x="4069080" y="1649349"/>
            <a:ext cx="2521915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B2_04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6636715" y="1695069"/>
            <a:ext cx="3423513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6636715" y="1695069"/>
            <a:ext cx="3369877" cy="109728"/>
          </a:xfrm>
          <a:prstGeom prst="rect">
            <a:avLst/>
          </a:prstGeom>
          <a:solidFill>
            <a:srgbClr val="2F67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10151668" y="1640205"/>
            <a:ext cx="1069848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98.43%</a:t>
            </a:r>
            <a:endParaRPr lang="en-US" sz="800"/>
          </a:p>
        </p:txBody>
      </p:sp>
      <p:sp>
        <p:nvSpPr>
          <p:cNvPr id="19" name="Text 19"/>
          <p:cNvSpPr txBox="1"/>
          <p:nvPr/>
        </p:nvSpPr>
        <p:spPr>
          <a:xfrm>
            <a:off x="4069080" y="1963674"/>
            <a:ext cx="2521915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B2_01</a:t>
            </a:r>
            <a:endParaRPr lang="en-US" sz="760"/>
          </a:p>
        </p:txBody>
      </p:sp>
      <p:sp>
        <p:nvSpPr>
          <p:cNvPr id="20" name="Shape 20"/>
          <p:cNvSpPr/>
          <p:nvPr/>
        </p:nvSpPr>
        <p:spPr>
          <a:xfrm>
            <a:off x="6636715" y="2009394"/>
            <a:ext cx="3423513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636715" y="2009394"/>
            <a:ext cx="3365769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10151668" y="1954530"/>
            <a:ext cx="1069848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98.31%</a:t>
            </a:r>
            <a:endParaRPr lang="en-US" sz="800"/>
          </a:p>
        </p:txBody>
      </p:sp>
      <p:sp>
        <p:nvSpPr>
          <p:cNvPr id="23" name="Text 23"/>
          <p:cNvSpPr txBox="1"/>
          <p:nvPr/>
        </p:nvSpPr>
        <p:spPr>
          <a:xfrm>
            <a:off x="4069080" y="2277999"/>
            <a:ext cx="2521915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B1_02</a:t>
            </a:r>
            <a:endParaRPr lang="en-US" sz="760"/>
          </a:p>
        </p:txBody>
      </p:sp>
      <p:sp>
        <p:nvSpPr>
          <p:cNvPr id="24" name="Shape 24"/>
          <p:cNvSpPr/>
          <p:nvPr/>
        </p:nvSpPr>
        <p:spPr>
          <a:xfrm>
            <a:off x="6636715" y="2323719"/>
            <a:ext cx="3423513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6636715" y="2323719"/>
            <a:ext cx="3349793" cy="109728"/>
          </a:xfrm>
          <a:prstGeom prst="rect">
            <a:avLst/>
          </a:prstGeom>
          <a:solidFill>
            <a:srgbClr val="D89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10151668" y="2268855"/>
            <a:ext cx="1069848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97.85%</a:t>
            </a:r>
            <a:endParaRPr lang="en-US" sz="800"/>
          </a:p>
        </p:txBody>
      </p:sp>
      <p:sp>
        <p:nvSpPr>
          <p:cNvPr id="27" name="Text 27"/>
          <p:cNvSpPr txBox="1"/>
          <p:nvPr/>
        </p:nvSpPr>
        <p:spPr>
          <a:xfrm>
            <a:off x="4069080" y="2592324"/>
            <a:ext cx="2521915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B2_03</a:t>
            </a:r>
            <a:endParaRPr lang="en-US" sz="760"/>
          </a:p>
        </p:txBody>
      </p:sp>
      <p:sp>
        <p:nvSpPr>
          <p:cNvPr id="28" name="Shape 28"/>
          <p:cNvSpPr/>
          <p:nvPr/>
        </p:nvSpPr>
        <p:spPr>
          <a:xfrm>
            <a:off x="6636715" y="2638044"/>
            <a:ext cx="3423513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6636715" y="2638044"/>
            <a:ext cx="3348423" cy="109728"/>
          </a:xfrm>
          <a:prstGeom prst="rect">
            <a:avLst/>
          </a:prstGeom>
          <a:solidFill>
            <a:srgbClr val="6E5A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10151668" y="2583180"/>
            <a:ext cx="1069848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97.81%</a:t>
            </a:r>
            <a:endParaRPr lang="en-US" sz="800"/>
          </a:p>
        </p:txBody>
      </p:sp>
      <p:sp>
        <p:nvSpPr>
          <p:cNvPr id="31" name="Text 31"/>
          <p:cNvSpPr txBox="1"/>
          <p:nvPr/>
        </p:nvSpPr>
        <p:spPr>
          <a:xfrm>
            <a:off x="4069080" y="2906649"/>
            <a:ext cx="2521915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B1_01</a:t>
            </a:r>
            <a:endParaRPr lang="en-US" sz="760"/>
          </a:p>
        </p:txBody>
      </p:sp>
      <p:sp>
        <p:nvSpPr>
          <p:cNvPr id="32" name="Shape 32"/>
          <p:cNvSpPr/>
          <p:nvPr/>
        </p:nvSpPr>
        <p:spPr>
          <a:xfrm>
            <a:off x="6636715" y="2952369"/>
            <a:ext cx="3423513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6636715" y="2952369"/>
            <a:ext cx="3331078" cy="109728"/>
          </a:xfrm>
          <a:prstGeom prst="rect">
            <a:avLst/>
          </a:prstGeom>
          <a:solidFill>
            <a:srgbClr val="B84A3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10151668" y="2897505"/>
            <a:ext cx="1069848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97.30%</a:t>
            </a:r>
            <a:endParaRPr lang="en-US" sz="800"/>
          </a:p>
        </p:txBody>
      </p:sp>
      <p:sp>
        <p:nvSpPr>
          <p:cNvPr id="35" name="Text 35"/>
          <p:cNvSpPr txBox="1"/>
          <p:nvPr/>
        </p:nvSpPr>
        <p:spPr>
          <a:xfrm>
            <a:off x="4069080" y="3220974"/>
            <a:ext cx="2521915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B1_04</a:t>
            </a:r>
            <a:endParaRPr lang="en-US" sz="760"/>
          </a:p>
        </p:txBody>
      </p:sp>
      <p:sp>
        <p:nvSpPr>
          <p:cNvPr id="36" name="Shape 36"/>
          <p:cNvSpPr/>
          <p:nvPr/>
        </p:nvSpPr>
        <p:spPr>
          <a:xfrm>
            <a:off x="6636715" y="3266694"/>
            <a:ext cx="3423513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 37"/>
          <p:cNvSpPr/>
          <p:nvPr/>
        </p:nvSpPr>
        <p:spPr>
          <a:xfrm>
            <a:off x="6636715" y="3266694"/>
            <a:ext cx="3330621" cy="109728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10151668" y="3211830"/>
            <a:ext cx="1069848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97.29%</a:t>
            </a:r>
            <a:endParaRPr lang="en-US" sz="800"/>
          </a:p>
        </p:txBody>
      </p:sp>
      <p:sp>
        <p:nvSpPr>
          <p:cNvPr id="39" name="Text 39"/>
          <p:cNvSpPr txBox="1"/>
          <p:nvPr/>
        </p:nvSpPr>
        <p:spPr>
          <a:xfrm>
            <a:off x="4069080" y="3535299"/>
            <a:ext cx="2521915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B1_03</a:t>
            </a:r>
            <a:endParaRPr lang="en-US" sz="760"/>
          </a:p>
        </p:txBody>
      </p:sp>
      <p:sp>
        <p:nvSpPr>
          <p:cNvPr id="40" name="Shape 40"/>
          <p:cNvSpPr/>
          <p:nvPr/>
        </p:nvSpPr>
        <p:spPr>
          <a:xfrm>
            <a:off x="6636715" y="3581019"/>
            <a:ext cx="3423513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6636715" y="3581019"/>
            <a:ext cx="3323774" cy="109728"/>
          </a:xfrm>
          <a:prstGeom prst="rect">
            <a:avLst/>
          </a:prstGeom>
          <a:solidFill>
            <a:srgbClr val="2F67B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10151668" y="3526155"/>
            <a:ext cx="1069848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97.09%</a:t>
            </a:r>
            <a:endParaRPr lang="en-US" sz="800"/>
          </a:p>
        </p:txBody>
      </p:sp>
      <p:sp>
        <p:nvSpPr>
          <p:cNvPr id="43" name="Shape 43"/>
          <p:cNvSpPr/>
          <p:nvPr/>
        </p:nvSpPr>
        <p:spPr>
          <a:xfrm>
            <a:off x="594360" y="3703320"/>
            <a:ext cx="1049572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640080" y="3739896"/>
            <a:ext cx="958132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ID</a:t>
            </a:r>
            <a:endParaRPr lang="en-US" sz="770"/>
          </a:p>
        </p:txBody>
      </p:sp>
      <p:sp>
        <p:nvSpPr>
          <p:cNvPr id="45" name="Shape 45"/>
          <p:cNvSpPr/>
          <p:nvPr/>
        </p:nvSpPr>
        <p:spPr>
          <a:xfrm>
            <a:off x="1643932" y="3703320"/>
            <a:ext cx="2385391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1689652" y="3739896"/>
            <a:ext cx="229395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branch</a:t>
            </a:r>
            <a:endParaRPr lang="en-US" sz="770"/>
          </a:p>
        </p:txBody>
      </p:sp>
      <p:sp>
        <p:nvSpPr>
          <p:cNvPr id="47" name="Shape 47"/>
          <p:cNvSpPr/>
          <p:nvPr/>
        </p:nvSpPr>
        <p:spPr>
          <a:xfrm>
            <a:off x="4029323" y="3703320"/>
            <a:ext cx="2671638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4075043" y="3739896"/>
            <a:ext cx="25801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training</a:t>
            </a:r>
            <a:endParaRPr lang="en-US" sz="770"/>
          </a:p>
        </p:txBody>
      </p:sp>
      <p:sp>
        <p:nvSpPr>
          <p:cNvPr id="49" name="Shape 49"/>
          <p:cNvSpPr/>
          <p:nvPr/>
        </p:nvSpPr>
        <p:spPr>
          <a:xfrm>
            <a:off x="6700961" y="3703320"/>
            <a:ext cx="1717481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6746681" y="3739896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seq acc</a:t>
            </a:r>
            <a:endParaRPr lang="en-US" sz="770"/>
          </a:p>
        </p:txBody>
      </p:sp>
      <p:sp>
        <p:nvSpPr>
          <p:cNvPr id="51" name="Shape 51"/>
          <p:cNvSpPr/>
          <p:nvPr/>
        </p:nvSpPr>
        <p:spPr>
          <a:xfrm>
            <a:off x="8418442" y="3703320"/>
            <a:ext cx="1717481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2" name="Text 52"/>
          <p:cNvSpPr txBox="1"/>
          <p:nvPr/>
        </p:nvSpPr>
        <p:spPr>
          <a:xfrm>
            <a:off x="8464162" y="3739896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char acc</a:t>
            </a:r>
            <a:endParaRPr lang="en-US" sz="770"/>
          </a:p>
        </p:txBody>
      </p:sp>
      <p:sp>
        <p:nvSpPr>
          <p:cNvPr id="53" name="Shape 53"/>
          <p:cNvSpPr/>
          <p:nvPr/>
        </p:nvSpPr>
        <p:spPr>
          <a:xfrm>
            <a:off x="10135923" y="3703320"/>
            <a:ext cx="1431234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4" name="Text 54"/>
          <p:cNvSpPr txBox="1"/>
          <p:nvPr/>
        </p:nvSpPr>
        <p:spPr>
          <a:xfrm>
            <a:off x="10181643" y="3739896"/>
            <a:ext cx="133979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edit</a:t>
            </a:r>
            <a:endParaRPr lang="en-US" sz="770"/>
          </a:p>
        </p:txBody>
      </p:sp>
      <p:sp>
        <p:nvSpPr>
          <p:cNvPr id="55" name="Shape 55"/>
          <p:cNvSpPr/>
          <p:nvPr/>
        </p:nvSpPr>
        <p:spPr>
          <a:xfrm>
            <a:off x="594360" y="4005072"/>
            <a:ext cx="10495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6" name="Text 56"/>
          <p:cNvSpPr txBox="1"/>
          <p:nvPr/>
        </p:nvSpPr>
        <p:spPr>
          <a:xfrm>
            <a:off x="640080" y="4041648"/>
            <a:ext cx="958132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B2_02</a:t>
            </a:r>
            <a:endParaRPr lang="en-US" sz="770"/>
          </a:p>
        </p:txBody>
      </p:sp>
      <p:sp>
        <p:nvSpPr>
          <p:cNvPr id="57" name="Shape 57"/>
          <p:cNvSpPr/>
          <p:nvPr/>
        </p:nvSpPr>
        <p:spPr>
          <a:xfrm>
            <a:off x="1643932" y="4005072"/>
            <a:ext cx="238539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8" name="Text 58"/>
          <p:cNvSpPr txBox="1"/>
          <p:nvPr/>
        </p:nvSpPr>
        <p:spPr>
          <a:xfrm>
            <a:off x="1689652" y="4041648"/>
            <a:ext cx="229395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Transformer</a:t>
            </a:r>
            <a:endParaRPr lang="en-US" sz="770"/>
          </a:p>
        </p:txBody>
      </p:sp>
      <p:sp>
        <p:nvSpPr>
          <p:cNvPr id="59" name="Shape 59"/>
          <p:cNvSpPr/>
          <p:nvPr/>
        </p:nvSpPr>
        <p:spPr>
          <a:xfrm>
            <a:off x="4029323" y="4005072"/>
            <a:ext cx="26716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4075043" y="4041648"/>
            <a:ext cx="25801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contrastive</a:t>
            </a:r>
            <a:endParaRPr lang="en-US" sz="770"/>
          </a:p>
        </p:txBody>
      </p:sp>
      <p:sp>
        <p:nvSpPr>
          <p:cNvPr id="61" name="Shape 61"/>
          <p:cNvSpPr/>
          <p:nvPr/>
        </p:nvSpPr>
        <p:spPr>
          <a:xfrm>
            <a:off x="6700961" y="4005072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2" name="Text 62"/>
          <p:cNvSpPr txBox="1"/>
          <p:nvPr/>
        </p:nvSpPr>
        <p:spPr>
          <a:xfrm>
            <a:off x="6746681" y="4041648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98.47%</a:t>
            </a:r>
            <a:endParaRPr lang="en-US" sz="770"/>
          </a:p>
        </p:txBody>
      </p:sp>
      <p:sp>
        <p:nvSpPr>
          <p:cNvPr id="63" name="Shape 63"/>
          <p:cNvSpPr/>
          <p:nvPr/>
        </p:nvSpPr>
        <p:spPr>
          <a:xfrm>
            <a:off x="8418442" y="4005072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4" name="Text 64"/>
          <p:cNvSpPr txBox="1"/>
          <p:nvPr/>
        </p:nvSpPr>
        <p:spPr>
          <a:xfrm>
            <a:off x="8464162" y="4041648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99.66%</a:t>
            </a:r>
            <a:endParaRPr lang="en-US" sz="770"/>
          </a:p>
        </p:txBody>
      </p:sp>
      <p:sp>
        <p:nvSpPr>
          <p:cNvPr id="65" name="Shape 65"/>
          <p:cNvSpPr/>
          <p:nvPr/>
        </p:nvSpPr>
        <p:spPr>
          <a:xfrm>
            <a:off x="10135923" y="4005072"/>
            <a:ext cx="1431234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6" name="Text 66"/>
          <p:cNvSpPr txBox="1"/>
          <p:nvPr/>
        </p:nvSpPr>
        <p:spPr>
          <a:xfrm>
            <a:off x="10181643" y="4041648"/>
            <a:ext cx="133979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0.0154</a:t>
            </a:r>
            <a:endParaRPr lang="en-US" sz="770"/>
          </a:p>
        </p:txBody>
      </p:sp>
      <p:sp>
        <p:nvSpPr>
          <p:cNvPr id="67" name="Shape 67"/>
          <p:cNvSpPr/>
          <p:nvPr/>
        </p:nvSpPr>
        <p:spPr>
          <a:xfrm>
            <a:off x="594360" y="4306824"/>
            <a:ext cx="10495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8" name="Text 68"/>
          <p:cNvSpPr txBox="1"/>
          <p:nvPr/>
        </p:nvSpPr>
        <p:spPr>
          <a:xfrm>
            <a:off x="640080" y="4343400"/>
            <a:ext cx="958132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B2_04</a:t>
            </a:r>
            <a:endParaRPr lang="en-US" sz="770"/>
          </a:p>
        </p:txBody>
      </p:sp>
      <p:sp>
        <p:nvSpPr>
          <p:cNvPr id="69" name="Shape 69"/>
          <p:cNvSpPr/>
          <p:nvPr/>
        </p:nvSpPr>
        <p:spPr>
          <a:xfrm>
            <a:off x="1643932" y="4306824"/>
            <a:ext cx="238539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0" name="Text 70"/>
          <p:cNvSpPr txBox="1"/>
          <p:nvPr/>
        </p:nvSpPr>
        <p:spPr>
          <a:xfrm>
            <a:off x="1689652" y="4343400"/>
            <a:ext cx="229395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Transformer</a:t>
            </a:r>
            <a:endParaRPr lang="en-US" sz="770"/>
          </a:p>
        </p:txBody>
      </p:sp>
      <p:sp>
        <p:nvSpPr>
          <p:cNvPr id="71" name="Shape 71"/>
          <p:cNvSpPr/>
          <p:nvPr/>
        </p:nvSpPr>
        <p:spPr>
          <a:xfrm>
            <a:off x="4029323" y="4306824"/>
            <a:ext cx="26716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2" name="Text 72"/>
          <p:cNvSpPr txBox="1"/>
          <p:nvPr/>
        </p:nvSpPr>
        <p:spPr>
          <a:xfrm>
            <a:off x="4075043" y="4343400"/>
            <a:ext cx="25801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self-supervised</a:t>
            </a:r>
            <a:endParaRPr lang="en-US" sz="770"/>
          </a:p>
        </p:txBody>
      </p:sp>
      <p:sp>
        <p:nvSpPr>
          <p:cNvPr id="73" name="Shape 73"/>
          <p:cNvSpPr/>
          <p:nvPr/>
        </p:nvSpPr>
        <p:spPr>
          <a:xfrm>
            <a:off x="6700961" y="4306824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4" name="Text 74"/>
          <p:cNvSpPr txBox="1"/>
          <p:nvPr/>
        </p:nvSpPr>
        <p:spPr>
          <a:xfrm>
            <a:off x="6746681" y="4343400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98.43%</a:t>
            </a:r>
            <a:endParaRPr lang="en-US" sz="770"/>
          </a:p>
        </p:txBody>
      </p:sp>
      <p:sp>
        <p:nvSpPr>
          <p:cNvPr id="75" name="Shape 75"/>
          <p:cNvSpPr/>
          <p:nvPr/>
        </p:nvSpPr>
        <p:spPr>
          <a:xfrm>
            <a:off x="8418442" y="4306824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6" name="Text 76"/>
          <p:cNvSpPr txBox="1"/>
          <p:nvPr/>
        </p:nvSpPr>
        <p:spPr>
          <a:xfrm>
            <a:off x="8464162" y="4343400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99.66%</a:t>
            </a:r>
            <a:endParaRPr lang="en-US" sz="770"/>
          </a:p>
        </p:txBody>
      </p:sp>
      <p:sp>
        <p:nvSpPr>
          <p:cNvPr id="77" name="Shape 77"/>
          <p:cNvSpPr/>
          <p:nvPr/>
        </p:nvSpPr>
        <p:spPr>
          <a:xfrm>
            <a:off x="10135923" y="4306824"/>
            <a:ext cx="1431234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8" name="Text 78"/>
          <p:cNvSpPr txBox="1"/>
          <p:nvPr/>
        </p:nvSpPr>
        <p:spPr>
          <a:xfrm>
            <a:off x="10181643" y="4343400"/>
            <a:ext cx="133979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0.0158</a:t>
            </a:r>
            <a:endParaRPr lang="en-US" sz="770"/>
          </a:p>
        </p:txBody>
      </p:sp>
      <p:sp>
        <p:nvSpPr>
          <p:cNvPr id="79" name="Shape 79"/>
          <p:cNvSpPr/>
          <p:nvPr/>
        </p:nvSpPr>
        <p:spPr>
          <a:xfrm>
            <a:off x="594360" y="4608576"/>
            <a:ext cx="10495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0" name="Text 80"/>
          <p:cNvSpPr txBox="1"/>
          <p:nvPr/>
        </p:nvSpPr>
        <p:spPr>
          <a:xfrm>
            <a:off x="640080" y="4645152"/>
            <a:ext cx="958132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B2_01</a:t>
            </a:r>
            <a:endParaRPr lang="en-US" sz="770"/>
          </a:p>
        </p:txBody>
      </p:sp>
      <p:sp>
        <p:nvSpPr>
          <p:cNvPr id="81" name="Shape 81"/>
          <p:cNvSpPr/>
          <p:nvPr/>
        </p:nvSpPr>
        <p:spPr>
          <a:xfrm>
            <a:off x="1643932" y="4608576"/>
            <a:ext cx="238539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2" name="Text 82"/>
          <p:cNvSpPr txBox="1"/>
          <p:nvPr/>
        </p:nvSpPr>
        <p:spPr>
          <a:xfrm>
            <a:off x="1689652" y="4645152"/>
            <a:ext cx="229395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Transformer</a:t>
            </a:r>
            <a:endParaRPr lang="en-US" sz="770"/>
          </a:p>
        </p:txBody>
      </p:sp>
      <p:sp>
        <p:nvSpPr>
          <p:cNvPr id="83" name="Shape 83"/>
          <p:cNvSpPr/>
          <p:nvPr/>
        </p:nvSpPr>
        <p:spPr>
          <a:xfrm>
            <a:off x="4029323" y="4608576"/>
            <a:ext cx="26716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4" name="Text 84"/>
          <p:cNvSpPr txBox="1"/>
          <p:nvPr/>
        </p:nvSpPr>
        <p:spPr>
          <a:xfrm>
            <a:off x="4075043" y="4645152"/>
            <a:ext cx="25801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supervised</a:t>
            </a:r>
            <a:endParaRPr lang="en-US" sz="770"/>
          </a:p>
        </p:txBody>
      </p:sp>
      <p:sp>
        <p:nvSpPr>
          <p:cNvPr id="85" name="Shape 85"/>
          <p:cNvSpPr/>
          <p:nvPr/>
        </p:nvSpPr>
        <p:spPr>
          <a:xfrm>
            <a:off x="6700961" y="4608576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6" name="Text 86"/>
          <p:cNvSpPr txBox="1"/>
          <p:nvPr/>
        </p:nvSpPr>
        <p:spPr>
          <a:xfrm>
            <a:off x="6746681" y="4645152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98.31%</a:t>
            </a:r>
            <a:endParaRPr lang="en-US" sz="770"/>
          </a:p>
        </p:txBody>
      </p:sp>
      <p:sp>
        <p:nvSpPr>
          <p:cNvPr id="87" name="Shape 87"/>
          <p:cNvSpPr/>
          <p:nvPr/>
        </p:nvSpPr>
        <p:spPr>
          <a:xfrm>
            <a:off x="8418442" y="4608576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8" name="Text 88"/>
          <p:cNvSpPr txBox="1"/>
          <p:nvPr/>
        </p:nvSpPr>
        <p:spPr>
          <a:xfrm>
            <a:off x="8464162" y="4645152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99.62%</a:t>
            </a:r>
            <a:endParaRPr lang="en-US" sz="770"/>
          </a:p>
        </p:txBody>
      </p:sp>
      <p:sp>
        <p:nvSpPr>
          <p:cNvPr id="89" name="Shape 89"/>
          <p:cNvSpPr/>
          <p:nvPr/>
        </p:nvSpPr>
        <p:spPr>
          <a:xfrm>
            <a:off x="10135923" y="4608576"/>
            <a:ext cx="1431234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0" name="Text 90"/>
          <p:cNvSpPr txBox="1"/>
          <p:nvPr/>
        </p:nvSpPr>
        <p:spPr>
          <a:xfrm>
            <a:off x="10181643" y="4645152"/>
            <a:ext cx="133979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0.0170</a:t>
            </a:r>
            <a:endParaRPr lang="en-US" sz="770"/>
          </a:p>
        </p:txBody>
      </p:sp>
      <p:sp>
        <p:nvSpPr>
          <p:cNvPr id="91" name="Shape 91"/>
          <p:cNvSpPr/>
          <p:nvPr/>
        </p:nvSpPr>
        <p:spPr>
          <a:xfrm>
            <a:off x="594360" y="4910328"/>
            <a:ext cx="10495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2" name="Text 92"/>
          <p:cNvSpPr txBox="1"/>
          <p:nvPr/>
        </p:nvSpPr>
        <p:spPr>
          <a:xfrm>
            <a:off x="640080" y="4946904"/>
            <a:ext cx="958132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B1_02</a:t>
            </a:r>
            <a:endParaRPr lang="en-US" sz="770"/>
          </a:p>
        </p:txBody>
      </p:sp>
      <p:sp>
        <p:nvSpPr>
          <p:cNvPr id="93" name="Shape 93"/>
          <p:cNvSpPr/>
          <p:nvPr/>
        </p:nvSpPr>
        <p:spPr>
          <a:xfrm>
            <a:off x="1643932" y="4910328"/>
            <a:ext cx="238539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4" name="Text 94"/>
          <p:cNvSpPr txBox="1"/>
          <p:nvPr/>
        </p:nvSpPr>
        <p:spPr>
          <a:xfrm>
            <a:off x="1689652" y="4946904"/>
            <a:ext cx="229395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CRNN</a:t>
            </a:r>
            <a:endParaRPr lang="en-US" sz="770"/>
          </a:p>
        </p:txBody>
      </p:sp>
      <p:sp>
        <p:nvSpPr>
          <p:cNvPr id="95" name="Shape 95"/>
          <p:cNvSpPr/>
          <p:nvPr/>
        </p:nvSpPr>
        <p:spPr>
          <a:xfrm>
            <a:off x="4029323" y="4910328"/>
            <a:ext cx="26716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6" name="Text 96"/>
          <p:cNvSpPr txBox="1"/>
          <p:nvPr/>
        </p:nvSpPr>
        <p:spPr>
          <a:xfrm>
            <a:off x="4075043" y="4946904"/>
            <a:ext cx="25801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contrastive</a:t>
            </a:r>
            <a:endParaRPr lang="en-US" sz="770"/>
          </a:p>
        </p:txBody>
      </p:sp>
      <p:sp>
        <p:nvSpPr>
          <p:cNvPr id="97" name="Shape 97"/>
          <p:cNvSpPr/>
          <p:nvPr/>
        </p:nvSpPr>
        <p:spPr>
          <a:xfrm>
            <a:off x="6700961" y="4910328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8" name="Text 98"/>
          <p:cNvSpPr txBox="1"/>
          <p:nvPr/>
        </p:nvSpPr>
        <p:spPr>
          <a:xfrm>
            <a:off x="6746681" y="4946904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97.85%</a:t>
            </a:r>
            <a:endParaRPr lang="en-US" sz="770"/>
          </a:p>
        </p:txBody>
      </p:sp>
      <p:sp>
        <p:nvSpPr>
          <p:cNvPr id="99" name="Shape 99"/>
          <p:cNvSpPr/>
          <p:nvPr/>
        </p:nvSpPr>
        <p:spPr>
          <a:xfrm>
            <a:off x="8418442" y="4910328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0" name="Text 100"/>
          <p:cNvSpPr txBox="1"/>
          <p:nvPr/>
        </p:nvSpPr>
        <p:spPr>
          <a:xfrm>
            <a:off x="8464162" y="4946904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99.52%</a:t>
            </a:r>
            <a:endParaRPr lang="en-US" sz="770"/>
          </a:p>
        </p:txBody>
      </p:sp>
      <p:sp>
        <p:nvSpPr>
          <p:cNvPr id="101" name="Shape 101"/>
          <p:cNvSpPr/>
          <p:nvPr/>
        </p:nvSpPr>
        <p:spPr>
          <a:xfrm>
            <a:off x="10135923" y="4910328"/>
            <a:ext cx="1431234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2" name="Text 102"/>
          <p:cNvSpPr txBox="1"/>
          <p:nvPr/>
        </p:nvSpPr>
        <p:spPr>
          <a:xfrm>
            <a:off x="10181643" y="4946904"/>
            <a:ext cx="133979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0.0218</a:t>
            </a:r>
            <a:endParaRPr lang="en-US" sz="770"/>
          </a:p>
        </p:txBody>
      </p:sp>
      <p:sp>
        <p:nvSpPr>
          <p:cNvPr id="103" name="Shape 103"/>
          <p:cNvSpPr/>
          <p:nvPr/>
        </p:nvSpPr>
        <p:spPr>
          <a:xfrm>
            <a:off x="594360" y="5212080"/>
            <a:ext cx="10495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4" name="Text 104"/>
          <p:cNvSpPr txBox="1"/>
          <p:nvPr/>
        </p:nvSpPr>
        <p:spPr>
          <a:xfrm>
            <a:off x="640080" y="5248656"/>
            <a:ext cx="958132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B2_03</a:t>
            </a:r>
            <a:endParaRPr lang="en-US" sz="770"/>
          </a:p>
        </p:txBody>
      </p:sp>
      <p:sp>
        <p:nvSpPr>
          <p:cNvPr id="105" name="Shape 105"/>
          <p:cNvSpPr/>
          <p:nvPr/>
        </p:nvSpPr>
        <p:spPr>
          <a:xfrm>
            <a:off x="1643932" y="5212080"/>
            <a:ext cx="238539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6" name="Text 106"/>
          <p:cNvSpPr txBox="1"/>
          <p:nvPr/>
        </p:nvSpPr>
        <p:spPr>
          <a:xfrm>
            <a:off x="1689652" y="5248656"/>
            <a:ext cx="229395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Transformer</a:t>
            </a:r>
            <a:endParaRPr lang="en-US" sz="770"/>
          </a:p>
        </p:txBody>
      </p:sp>
      <p:sp>
        <p:nvSpPr>
          <p:cNvPr id="107" name="Shape 107"/>
          <p:cNvSpPr/>
          <p:nvPr/>
        </p:nvSpPr>
        <p:spPr>
          <a:xfrm>
            <a:off x="4029323" y="5212080"/>
            <a:ext cx="26716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8" name="Text 108"/>
          <p:cNvSpPr txBox="1"/>
          <p:nvPr/>
        </p:nvSpPr>
        <p:spPr>
          <a:xfrm>
            <a:off x="4075043" y="5248656"/>
            <a:ext cx="25801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semi-supervised</a:t>
            </a:r>
            <a:endParaRPr lang="en-US" sz="770"/>
          </a:p>
        </p:txBody>
      </p:sp>
      <p:sp>
        <p:nvSpPr>
          <p:cNvPr id="109" name="Shape 109"/>
          <p:cNvSpPr/>
          <p:nvPr/>
        </p:nvSpPr>
        <p:spPr>
          <a:xfrm>
            <a:off x="6700961" y="5212080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0" name="Text 110"/>
          <p:cNvSpPr txBox="1"/>
          <p:nvPr/>
        </p:nvSpPr>
        <p:spPr>
          <a:xfrm>
            <a:off x="6746681" y="5248656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97.81%</a:t>
            </a:r>
            <a:endParaRPr lang="en-US" sz="770"/>
          </a:p>
        </p:txBody>
      </p:sp>
      <p:sp>
        <p:nvSpPr>
          <p:cNvPr id="111" name="Shape 111"/>
          <p:cNvSpPr/>
          <p:nvPr/>
        </p:nvSpPr>
        <p:spPr>
          <a:xfrm>
            <a:off x="8418442" y="5212080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2" name="Text 112"/>
          <p:cNvSpPr txBox="1"/>
          <p:nvPr/>
        </p:nvSpPr>
        <p:spPr>
          <a:xfrm>
            <a:off x="8464162" y="5248656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99.52%</a:t>
            </a:r>
            <a:endParaRPr lang="en-US" sz="770"/>
          </a:p>
        </p:txBody>
      </p:sp>
      <p:sp>
        <p:nvSpPr>
          <p:cNvPr id="113" name="Shape 113"/>
          <p:cNvSpPr/>
          <p:nvPr/>
        </p:nvSpPr>
        <p:spPr>
          <a:xfrm>
            <a:off x="10135923" y="5212080"/>
            <a:ext cx="1431234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4" name="Text 114"/>
          <p:cNvSpPr txBox="1"/>
          <p:nvPr/>
        </p:nvSpPr>
        <p:spPr>
          <a:xfrm>
            <a:off x="10181643" y="5248656"/>
            <a:ext cx="133979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0.0223</a:t>
            </a:r>
            <a:endParaRPr lang="en-US" sz="770"/>
          </a:p>
        </p:txBody>
      </p:sp>
      <p:sp>
        <p:nvSpPr>
          <p:cNvPr id="115" name="Shape 115"/>
          <p:cNvSpPr/>
          <p:nvPr/>
        </p:nvSpPr>
        <p:spPr>
          <a:xfrm>
            <a:off x="594360" y="5513832"/>
            <a:ext cx="10495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6" name="Text 116"/>
          <p:cNvSpPr txBox="1"/>
          <p:nvPr/>
        </p:nvSpPr>
        <p:spPr>
          <a:xfrm>
            <a:off x="640080" y="5550408"/>
            <a:ext cx="958132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B1_01</a:t>
            </a:r>
            <a:endParaRPr lang="en-US" sz="770"/>
          </a:p>
        </p:txBody>
      </p:sp>
      <p:sp>
        <p:nvSpPr>
          <p:cNvPr id="117" name="Shape 117"/>
          <p:cNvSpPr/>
          <p:nvPr/>
        </p:nvSpPr>
        <p:spPr>
          <a:xfrm>
            <a:off x="1643932" y="5513832"/>
            <a:ext cx="238539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8" name="Text 118"/>
          <p:cNvSpPr txBox="1"/>
          <p:nvPr/>
        </p:nvSpPr>
        <p:spPr>
          <a:xfrm>
            <a:off x="1689652" y="5550408"/>
            <a:ext cx="229395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CRNN</a:t>
            </a:r>
            <a:endParaRPr lang="en-US" sz="770"/>
          </a:p>
        </p:txBody>
      </p:sp>
      <p:sp>
        <p:nvSpPr>
          <p:cNvPr id="119" name="Shape 119"/>
          <p:cNvSpPr/>
          <p:nvPr/>
        </p:nvSpPr>
        <p:spPr>
          <a:xfrm>
            <a:off x="4029323" y="5513832"/>
            <a:ext cx="26716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0" name="Text 120"/>
          <p:cNvSpPr txBox="1"/>
          <p:nvPr/>
        </p:nvSpPr>
        <p:spPr>
          <a:xfrm>
            <a:off x="4075043" y="5550408"/>
            <a:ext cx="25801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supervised</a:t>
            </a:r>
            <a:endParaRPr lang="en-US" sz="770"/>
          </a:p>
        </p:txBody>
      </p:sp>
      <p:sp>
        <p:nvSpPr>
          <p:cNvPr id="121" name="Shape 121"/>
          <p:cNvSpPr/>
          <p:nvPr/>
        </p:nvSpPr>
        <p:spPr>
          <a:xfrm>
            <a:off x="6700961" y="5513832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2" name="Text 122"/>
          <p:cNvSpPr txBox="1"/>
          <p:nvPr/>
        </p:nvSpPr>
        <p:spPr>
          <a:xfrm>
            <a:off x="6746681" y="5550408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97.30%</a:t>
            </a:r>
            <a:endParaRPr lang="en-US" sz="770"/>
          </a:p>
        </p:txBody>
      </p:sp>
      <p:sp>
        <p:nvSpPr>
          <p:cNvPr id="123" name="Shape 123"/>
          <p:cNvSpPr/>
          <p:nvPr/>
        </p:nvSpPr>
        <p:spPr>
          <a:xfrm>
            <a:off x="8418442" y="5513832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4" name="Text 124"/>
          <p:cNvSpPr txBox="1"/>
          <p:nvPr/>
        </p:nvSpPr>
        <p:spPr>
          <a:xfrm>
            <a:off x="8464162" y="5550408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99.35%</a:t>
            </a:r>
            <a:endParaRPr lang="en-US" sz="770"/>
          </a:p>
        </p:txBody>
      </p:sp>
      <p:sp>
        <p:nvSpPr>
          <p:cNvPr id="125" name="Shape 125"/>
          <p:cNvSpPr/>
          <p:nvPr/>
        </p:nvSpPr>
        <p:spPr>
          <a:xfrm>
            <a:off x="10135923" y="5513832"/>
            <a:ext cx="1431234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6" name="Text 126"/>
          <p:cNvSpPr txBox="1"/>
          <p:nvPr/>
        </p:nvSpPr>
        <p:spPr>
          <a:xfrm>
            <a:off x="10181643" y="5550408"/>
            <a:ext cx="133979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0.0275</a:t>
            </a:r>
            <a:endParaRPr lang="en-US" sz="770"/>
          </a:p>
        </p:txBody>
      </p:sp>
      <p:sp>
        <p:nvSpPr>
          <p:cNvPr id="127" name="Shape 127"/>
          <p:cNvSpPr/>
          <p:nvPr/>
        </p:nvSpPr>
        <p:spPr>
          <a:xfrm>
            <a:off x="594360" y="5815584"/>
            <a:ext cx="10495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8" name="Text 128"/>
          <p:cNvSpPr txBox="1"/>
          <p:nvPr/>
        </p:nvSpPr>
        <p:spPr>
          <a:xfrm>
            <a:off x="640080" y="5852160"/>
            <a:ext cx="958132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B1_04</a:t>
            </a:r>
            <a:endParaRPr lang="en-US" sz="770"/>
          </a:p>
        </p:txBody>
      </p:sp>
      <p:sp>
        <p:nvSpPr>
          <p:cNvPr id="129" name="Shape 129"/>
          <p:cNvSpPr/>
          <p:nvPr/>
        </p:nvSpPr>
        <p:spPr>
          <a:xfrm>
            <a:off x="1643932" y="5815584"/>
            <a:ext cx="238539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0" name="Text 130"/>
          <p:cNvSpPr txBox="1"/>
          <p:nvPr/>
        </p:nvSpPr>
        <p:spPr>
          <a:xfrm>
            <a:off x="1689652" y="5852160"/>
            <a:ext cx="229395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CRNN</a:t>
            </a:r>
            <a:endParaRPr lang="en-US" sz="770"/>
          </a:p>
        </p:txBody>
      </p:sp>
      <p:sp>
        <p:nvSpPr>
          <p:cNvPr id="131" name="Shape 131"/>
          <p:cNvSpPr/>
          <p:nvPr/>
        </p:nvSpPr>
        <p:spPr>
          <a:xfrm>
            <a:off x="4029323" y="5815584"/>
            <a:ext cx="26716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2" name="Text 132"/>
          <p:cNvSpPr txBox="1"/>
          <p:nvPr/>
        </p:nvSpPr>
        <p:spPr>
          <a:xfrm>
            <a:off x="4075043" y="5852160"/>
            <a:ext cx="25801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self-supervised</a:t>
            </a:r>
            <a:endParaRPr lang="en-US" sz="770"/>
          </a:p>
        </p:txBody>
      </p:sp>
      <p:sp>
        <p:nvSpPr>
          <p:cNvPr id="133" name="Shape 133"/>
          <p:cNvSpPr/>
          <p:nvPr/>
        </p:nvSpPr>
        <p:spPr>
          <a:xfrm>
            <a:off x="6700961" y="5815584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4" name="Text 134"/>
          <p:cNvSpPr txBox="1"/>
          <p:nvPr/>
        </p:nvSpPr>
        <p:spPr>
          <a:xfrm>
            <a:off x="6746681" y="5852160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97.29%</a:t>
            </a:r>
            <a:endParaRPr lang="en-US" sz="770"/>
          </a:p>
        </p:txBody>
      </p:sp>
      <p:sp>
        <p:nvSpPr>
          <p:cNvPr id="135" name="Shape 135"/>
          <p:cNvSpPr/>
          <p:nvPr/>
        </p:nvSpPr>
        <p:spPr>
          <a:xfrm>
            <a:off x="8418442" y="5815584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6" name="Text 136"/>
          <p:cNvSpPr txBox="1"/>
          <p:nvPr/>
        </p:nvSpPr>
        <p:spPr>
          <a:xfrm>
            <a:off x="8464162" y="5852160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99.44%</a:t>
            </a:r>
            <a:endParaRPr lang="en-US" sz="770"/>
          </a:p>
        </p:txBody>
      </p:sp>
      <p:sp>
        <p:nvSpPr>
          <p:cNvPr id="137" name="Shape 137"/>
          <p:cNvSpPr/>
          <p:nvPr/>
        </p:nvSpPr>
        <p:spPr>
          <a:xfrm>
            <a:off x="10135923" y="5815584"/>
            <a:ext cx="1431234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8" name="Text 138"/>
          <p:cNvSpPr txBox="1"/>
          <p:nvPr/>
        </p:nvSpPr>
        <p:spPr>
          <a:xfrm>
            <a:off x="10181643" y="5852160"/>
            <a:ext cx="133979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0.0275</a:t>
            </a:r>
            <a:endParaRPr lang="en-US" sz="770"/>
          </a:p>
        </p:txBody>
      </p:sp>
      <p:sp>
        <p:nvSpPr>
          <p:cNvPr id="139" name="Shape 139"/>
          <p:cNvSpPr/>
          <p:nvPr/>
        </p:nvSpPr>
        <p:spPr>
          <a:xfrm>
            <a:off x="594360" y="6117336"/>
            <a:ext cx="104957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0" name="Text 140"/>
          <p:cNvSpPr txBox="1"/>
          <p:nvPr/>
        </p:nvSpPr>
        <p:spPr>
          <a:xfrm>
            <a:off x="640080" y="6153912"/>
            <a:ext cx="958132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B1_03</a:t>
            </a:r>
            <a:endParaRPr lang="en-US" sz="770"/>
          </a:p>
        </p:txBody>
      </p:sp>
      <p:sp>
        <p:nvSpPr>
          <p:cNvPr id="141" name="Shape 141"/>
          <p:cNvSpPr/>
          <p:nvPr/>
        </p:nvSpPr>
        <p:spPr>
          <a:xfrm>
            <a:off x="1643932" y="6117336"/>
            <a:ext cx="238539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2" name="Text 142"/>
          <p:cNvSpPr txBox="1"/>
          <p:nvPr/>
        </p:nvSpPr>
        <p:spPr>
          <a:xfrm>
            <a:off x="1689652" y="6153912"/>
            <a:ext cx="229395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CRNN</a:t>
            </a:r>
            <a:endParaRPr lang="en-US" sz="770"/>
          </a:p>
        </p:txBody>
      </p:sp>
      <p:sp>
        <p:nvSpPr>
          <p:cNvPr id="143" name="Shape 143"/>
          <p:cNvSpPr/>
          <p:nvPr/>
        </p:nvSpPr>
        <p:spPr>
          <a:xfrm>
            <a:off x="4029323" y="6117336"/>
            <a:ext cx="26716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4" name="Text 144"/>
          <p:cNvSpPr txBox="1"/>
          <p:nvPr/>
        </p:nvSpPr>
        <p:spPr>
          <a:xfrm>
            <a:off x="4075043" y="6153912"/>
            <a:ext cx="25801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semi-supervised</a:t>
            </a:r>
            <a:endParaRPr lang="en-US" sz="770"/>
          </a:p>
        </p:txBody>
      </p:sp>
      <p:sp>
        <p:nvSpPr>
          <p:cNvPr id="145" name="Shape 145"/>
          <p:cNvSpPr/>
          <p:nvPr/>
        </p:nvSpPr>
        <p:spPr>
          <a:xfrm>
            <a:off x="6700961" y="6117336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6" name="Text 146"/>
          <p:cNvSpPr txBox="1"/>
          <p:nvPr/>
        </p:nvSpPr>
        <p:spPr>
          <a:xfrm>
            <a:off x="6746681" y="6153912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97.09%</a:t>
            </a:r>
            <a:endParaRPr lang="en-US" sz="770"/>
          </a:p>
        </p:txBody>
      </p:sp>
      <p:sp>
        <p:nvSpPr>
          <p:cNvPr id="147" name="Shape 147"/>
          <p:cNvSpPr/>
          <p:nvPr/>
        </p:nvSpPr>
        <p:spPr>
          <a:xfrm>
            <a:off x="8418442" y="6117336"/>
            <a:ext cx="1717481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8" name="Text 148"/>
          <p:cNvSpPr txBox="1"/>
          <p:nvPr/>
        </p:nvSpPr>
        <p:spPr>
          <a:xfrm>
            <a:off x="8464162" y="6153912"/>
            <a:ext cx="1626041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99.30%</a:t>
            </a:r>
            <a:endParaRPr lang="en-US" sz="770"/>
          </a:p>
        </p:txBody>
      </p:sp>
      <p:sp>
        <p:nvSpPr>
          <p:cNvPr id="149" name="Shape 149"/>
          <p:cNvSpPr/>
          <p:nvPr/>
        </p:nvSpPr>
        <p:spPr>
          <a:xfrm>
            <a:off x="10135923" y="6117336"/>
            <a:ext cx="1431234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0" name="Text 150"/>
          <p:cNvSpPr txBox="1"/>
          <p:nvPr/>
        </p:nvSpPr>
        <p:spPr>
          <a:xfrm>
            <a:off x="10181643" y="6153912"/>
            <a:ext cx="133979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0.0298</a:t>
            </a:r>
            <a:endParaRPr lang="en-US" sz="77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1">
                <a:solidFill>
                  <a:srgbClr val="20242A"/>
                </a:solidFill>
                <a:latin typeface="Aptos"/>
              </a:rPr>
              <a:t>C result - position-wise multi-head CNN</a:t>
            </a:r>
            <a:endParaRPr lang="en-US" sz="2400"/>
          </a:p>
        </p:txBody>
      </p:sp>
      <p:sp>
        <p:nvSpPr>
          <p:cNvPr id="4" name="Text 4"/>
          <p:cNvSpPr txBox="1"/>
          <p:nvPr/>
        </p:nvSpPr>
        <p:spPr>
          <a:xfrm>
            <a:off x="8961120" y="347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900" b="0">
                <a:solidFill>
                  <a:srgbClr val="5B6573"/>
                </a:solidFill>
                <a:latin typeface="Aptos"/>
              </a:rPr>
              <a:t>last epoch</a:t>
            </a:r>
            <a:endParaRPr lang="en-US" sz="900"/>
          </a:p>
        </p:txBody>
      </p:sp>
      <p:sp>
        <p:nvSpPr>
          <p:cNvPr id="5" name="Shape 5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594360" y="1005840"/>
            <a:ext cx="3383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777240" y="116128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00" b="1">
                <a:solidFill>
                  <a:srgbClr val="5B6573"/>
                </a:solidFill>
                <a:latin typeface="Aptos"/>
              </a:rPr>
              <a:t>Best C-module run</a:t>
            </a:r>
            <a:endParaRPr lang="en-US" sz="1100"/>
          </a:p>
        </p:txBody>
      </p:sp>
      <p:sp>
        <p:nvSpPr>
          <p:cNvPr id="8" name="Text 8"/>
          <p:cNvSpPr txBox="1"/>
          <p:nvPr/>
        </p:nvSpPr>
        <p:spPr>
          <a:xfrm>
            <a:off x="777240" y="144475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ResNet multi-head / semi-supervised</a:t>
            </a:r>
            <a:endParaRPr lang="en-US" sz="1200"/>
          </a:p>
        </p:txBody>
      </p:sp>
      <p:sp>
        <p:nvSpPr>
          <p:cNvPr id="9" name="Text 9"/>
          <p:cNvSpPr txBox="1"/>
          <p:nvPr/>
        </p:nvSpPr>
        <p:spPr>
          <a:xfrm>
            <a:off x="777240" y="17373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00" b="1">
                <a:solidFill>
                  <a:srgbClr val="168A8F"/>
                </a:solidFill>
                <a:latin typeface="Aptos"/>
              </a:rPr>
              <a:t>96.44% seq / 99.27% char</a:t>
            </a:r>
            <a:endParaRPr lang="en-US" sz="1000"/>
          </a:p>
        </p:txBody>
      </p:sp>
      <p:sp>
        <p:nvSpPr>
          <p:cNvPr id="10" name="Text 10"/>
          <p:cNvSpPr txBox="1"/>
          <p:nvPr/>
        </p:nvSpPr>
        <p:spPr>
          <a:xfrm>
            <a:off x="4160520" y="960120"/>
            <a:ext cx="7086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Test sequence accuracy</a:t>
            </a:r>
            <a:endParaRPr lang="en-US" sz="1200"/>
          </a:p>
        </p:txBody>
      </p:sp>
      <p:sp>
        <p:nvSpPr>
          <p:cNvPr id="11" name="Text 11"/>
          <p:cNvSpPr txBox="1"/>
          <p:nvPr/>
        </p:nvSpPr>
        <p:spPr>
          <a:xfrm>
            <a:off x="4160520" y="1335024"/>
            <a:ext cx="2505456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semi-supervised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6711696" y="1380744"/>
            <a:ext cx="3401568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6711696" y="1380744"/>
            <a:ext cx="3280472" cy="109728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0204704" y="1325880"/>
            <a:ext cx="1062990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96.44%</a:t>
            </a:r>
            <a:endParaRPr lang="en-US" sz="800"/>
          </a:p>
        </p:txBody>
      </p:sp>
      <p:sp>
        <p:nvSpPr>
          <p:cNvPr id="15" name="Text 15"/>
          <p:cNvSpPr txBox="1"/>
          <p:nvPr/>
        </p:nvSpPr>
        <p:spPr>
          <a:xfrm>
            <a:off x="4160520" y="1649349"/>
            <a:ext cx="2505456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contrastive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6711696" y="1695069"/>
            <a:ext cx="3401568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6711696" y="1695069"/>
            <a:ext cx="3275936" cy="109728"/>
          </a:xfrm>
          <a:prstGeom prst="rect">
            <a:avLst/>
          </a:prstGeom>
          <a:solidFill>
            <a:srgbClr val="2F67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10204704" y="1640205"/>
            <a:ext cx="1062990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96.31%</a:t>
            </a:r>
            <a:endParaRPr lang="en-US" sz="800"/>
          </a:p>
        </p:txBody>
      </p:sp>
      <p:sp>
        <p:nvSpPr>
          <p:cNvPr id="19" name="Text 19"/>
          <p:cNvSpPr txBox="1"/>
          <p:nvPr/>
        </p:nvSpPr>
        <p:spPr>
          <a:xfrm>
            <a:off x="4160520" y="1963674"/>
            <a:ext cx="2505456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semi-supervised</a:t>
            </a:r>
            <a:endParaRPr lang="en-US" sz="760"/>
          </a:p>
        </p:txBody>
      </p:sp>
      <p:sp>
        <p:nvSpPr>
          <p:cNvPr id="20" name="Shape 20"/>
          <p:cNvSpPr/>
          <p:nvPr/>
        </p:nvSpPr>
        <p:spPr>
          <a:xfrm>
            <a:off x="6711696" y="2009394"/>
            <a:ext cx="3401568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711696" y="2009394"/>
            <a:ext cx="327298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10204704" y="1954530"/>
            <a:ext cx="1062990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96.22%</a:t>
            </a:r>
            <a:endParaRPr lang="en-US" sz="800"/>
          </a:p>
        </p:txBody>
      </p:sp>
      <p:sp>
        <p:nvSpPr>
          <p:cNvPr id="23" name="Text 23"/>
          <p:cNvSpPr txBox="1"/>
          <p:nvPr/>
        </p:nvSpPr>
        <p:spPr>
          <a:xfrm>
            <a:off x="4160520" y="2277999"/>
            <a:ext cx="2505456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contrastive</a:t>
            </a:r>
            <a:endParaRPr lang="en-US" sz="760"/>
          </a:p>
        </p:txBody>
      </p:sp>
      <p:sp>
        <p:nvSpPr>
          <p:cNvPr id="24" name="Shape 24"/>
          <p:cNvSpPr/>
          <p:nvPr/>
        </p:nvSpPr>
        <p:spPr>
          <a:xfrm>
            <a:off x="6711696" y="2323719"/>
            <a:ext cx="3401568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6711696" y="2323719"/>
            <a:ext cx="3271628" cy="109728"/>
          </a:xfrm>
          <a:prstGeom prst="rect">
            <a:avLst/>
          </a:prstGeom>
          <a:solidFill>
            <a:srgbClr val="D89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10204704" y="2268855"/>
            <a:ext cx="1062990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96.18%</a:t>
            </a:r>
            <a:endParaRPr lang="en-US" sz="800"/>
          </a:p>
        </p:txBody>
      </p:sp>
      <p:sp>
        <p:nvSpPr>
          <p:cNvPr id="27" name="Text 27"/>
          <p:cNvSpPr txBox="1"/>
          <p:nvPr/>
        </p:nvSpPr>
        <p:spPr>
          <a:xfrm>
            <a:off x="4160520" y="2592324"/>
            <a:ext cx="2505456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supervised</a:t>
            </a:r>
            <a:endParaRPr lang="en-US" sz="760"/>
          </a:p>
        </p:txBody>
      </p:sp>
      <p:sp>
        <p:nvSpPr>
          <p:cNvPr id="28" name="Shape 28"/>
          <p:cNvSpPr/>
          <p:nvPr/>
        </p:nvSpPr>
        <p:spPr>
          <a:xfrm>
            <a:off x="6711696" y="2638044"/>
            <a:ext cx="3401568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6711696" y="2638044"/>
            <a:ext cx="3271401" cy="109728"/>
          </a:xfrm>
          <a:prstGeom prst="rect">
            <a:avLst/>
          </a:prstGeom>
          <a:solidFill>
            <a:srgbClr val="6E5A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10204704" y="2583180"/>
            <a:ext cx="1062990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96.17%</a:t>
            </a:r>
            <a:endParaRPr lang="en-US" sz="800"/>
          </a:p>
        </p:txBody>
      </p:sp>
      <p:sp>
        <p:nvSpPr>
          <p:cNvPr id="31" name="Text 31"/>
          <p:cNvSpPr txBox="1"/>
          <p:nvPr/>
        </p:nvSpPr>
        <p:spPr>
          <a:xfrm>
            <a:off x="4160520" y="2906649"/>
            <a:ext cx="2505456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supervised</a:t>
            </a:r>
            <a:endParaRPr lang="en-US" sz="760"/>
          </a:p>
        </p:txBody>
      </p:sp>
      <p:sp>
        <p:nvSpPr>
          <p:cNvPr id="32" name="Shape 32"/>
          <p:cNvSpPr/>
          <p:nvPr/>
        </p:nvSpPr>
        <p:spPr>
          <a:xfrm>
            <a:off x="6711696" y="2952369"/>
            <a:ext cx="3401568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6711696" y="2952369"/>
            <a:ext cx="3269360" cy="109728"/>
          </a:xfrm>
          <a:prstGeom prst="rect">
            <a:avLst/>
          </a:prstGeom>
          <a:solidFill>
            <a:srgbClr val="B84A3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10204704" y="2897505"/>
            <a:ext cx="1062990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96.11%</a:t>
            </a:r>
            <a:endParaRPr lang="en-US" sz="800"/>
          </a:p>
        </p:txBody>
      </p:sp>
      <p:sp>
        <p:nvSpPr>
          <p:cNvPr id="35" name="Text 35"/>
          <p:cNvSpPr txBox="1"/>
          <p:nvPr/>
        </p:nvSpPr>
        <p:spPr>
          <a:xfrm>
            <a:off x="4160520" y="3220974"/>
            <a:ext cx="2505456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consistency</a:t>
            </a:r>
            <a:endParaRPr lang="en-US" sz="760"/>
          </a:p>
        </p:txBody>
      </p:sp>
      <p:sp>
        <p:nvSpPr>
          <p:cNvPr id="36" name="Shape 36"/>
          <p:cNvSpPr/>
          <p:nvPr/>
        </p:nvSpPr>
        <p:spPr>
          <a:xfrm>
            <a:off x="6711696" y="3266694"/>
            <a:ext cx="3401568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 37"/>
          <p:cNvSpPr/>
          <p:nvPr/>
        </p:nvSpPr>
        <p:spPr>
          <a:xfrm>
            <a:off x="6711696" y="3266694"/>
            <a:ext cx="3242147" cy="109728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10204704" y="3211830"/>
            <a:ext cx="1062990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95.31%</a:t>
            </a:r>
            <a:endParaRPr lang="en-US" sz="800"/>
          </a:p>
        </p:txBody>
      </p:sp>
      <p:sp>
        <p:nvSpPr>
          <p:cNvPr id="39" name="Text 39"/>
          <p:cNvSpPr txBox="1"/>
          <p:nvPr/>
        </p:nvSpPr>
        <p:spPr>
          <a:xfrm>
            <a:off x="4160520" y="3535299"/>
            <a:ext cx="2505456" cy="28689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consistency</a:t>
            </a:r>
            <a:endParaRPr lang="en-US" sz="760"/>
          </a:p>
        </p:txBody>
      </p:sp>
      <p:sp>
        <p:nvSpPr>
          <p:cNvPr id="40" name="Shape 40"/>
          <p:cNvSpPr/>
          <p:nvPr/>
        </p:nvSpPr>
        <p:spPr>
          <a:xfrm>
            <a:off x="6711696" y="3581019"/>
            <a:ext cx="3401568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6711696" y="3581019"/>
            <a:ext cx="3241467" cy="109728"/>
          </a:xfrm>
          <a:prstGeom prst="rect">
            <a:avLst/>
          </a:prstGeom>
          <a:solidFill>
            <a:srgbClr val="2F67B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10204704" y="3526155"/>
            <a:ext cx="1062990" cy="296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95.29%</a:t>
            </a:r>
            <a:endParaRPr lang="en-US" sz="800"/>
          </a:p>
        </p:txBody>
      </p:sp>
      <p:sp>
        <p:nvSpPr>
          <p:cNvPr id="43" name="Shape 43"/>
          <p:cNvSpPr/>
          <p:nvPr/>
        </p:nvSpPr>
        <p:spPr>
          <a:xfrm>
            <a:off x="594360" y="3703320"/>
            <a:ext cx="3376246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640080" y="3739896"/>
            <a:ext cx="3284806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backbone</a:t>
            </a:r>
            <a:endParaRPr lang="en-US" sz="770"/>
          </a:p>
        </p:txBody>
      </p:sp>
      <p:sp>
        <p:nvSpPr>
          <p:cNvPr id="45" name="Shape 45"/>
          <p:cNvSpPr/>
          <p:nvPr/>
        </p:nvSpPr>
        <p:spPr>
          <a:xfrm>
            <a:off x="3970606" y="3703320"/>
            <a:ext cx="2813538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4016326" y="3739896"/>
            <a:ext cx="27220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training</a:t>
            </a:r>
            <a:endParaRPr lang="en-US" sz="770"/>
          </a:p>
        </p:txBody>
      </p:sp>
      <p:sp>
        <p:nvSpPr>
          <p:cNvPr id="47" name="Shape 47"/>
          <p:cNvSpPr/>
          <p:nvPr/>
        </p:nvSpPr>
        <p:spPr>
          <a:xfrm>
            <a:off x="6784144" y="3703320"/>
            <a:ext cx="1688123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6829864" y="3739896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seq acc</a:t>
            </a:r>
            <a:endParaRPr lang="en-US" sz="770"/>
          </a:p>
        </p:txBody>
      </p:sp>
      <p:sp>
        <p:nvSpPr>
          <p:cNvPr id="49" name="Shape 49"/>
          <p:cNvSpPr/>
          <p:nvPr/>
        </p:nvSpPr>
        <p:spPr>
          <a:xfrm>
            <a:off x="8472267" y="3703320"/>
            <a:ext cx="1688123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8517987" y="3739896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char acc</a:t>
            </a:r>
            <a:endParaRPr lang="en-US" sz="770"/>
          </a:p>
        </p:txBody>
      </p:sp>
      <p:sp>
        <p:nvSpPr>
          <p:cNvPr id="51" name="Shape 51"/>
          <p:cNvSpPr/>
          <p:nvPr/>
        </p:nvSpPr>
        <p:spPr>
          <a:xfrm>
            <a:off x="10160390" y="3703320"/>
            <a:ext cx="1406769" cy="30175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2" name="Text 52"/>
          <p:cNvSpPr txBox="1"/>
          <p:nvPr/>
        </p:nvSpPr>
        <p:spPr>
          <a:xfrm>
            <a:off x="10206110" y="3739896"/>
            <a:ext cx="1315329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edit</a:t>
            </a:r>
            <a:endParaRPr lang="en-US" sz="770"/>
          </a:p>
        </p:txBody>
      </p:sp>
      <p:sp>
        <p:nvSpPr>
          <p:cNvPr id="53" name="Shape 53"/>
          <p:cNvSpPr/>
          <p:nvPr/>
        </p:nvSpPr>
        <p:spPr>
          <a:xfrm>
            <a:off x="594360" y="4005072"/>
            <a:ext cx="337624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4" name="Text 54"/>
          <p:cNvSpPr txBox="1"/>
          <p:nvPr/>
        </p:nvSpPr>
        <p:spPr>
          <a:xfrm>
            <a:off x="640080" y="4041648"/>
            <a:ext cx="3284806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ResNet multi-head</a:t>
            </a:r>
            <a:endParaRPr lang="en-US" sz="770"/>
          </a:p>
        </p:txBody>
      </p:sp>
      <p:sp>
        <p:nvSpPr>
          <p:cNvPr id="55" name="Shape 55"/>
          <p:cNvSpPr/>
          <p:nvPr/>
        </p:nvSpPr>
        <p:spPr>
          <a:xfrm>
            <a:off x="3970606" y="4005072"/>
            <a:ext cx="28135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6" name="Text 56"/>
          <p:cNvSpPr txBox="1"/>
          <p:nvPr/>
        </p:nvSpPr>
        <p:spPr>
          <a:xfrm>
            <a:off x="4016326" y="4041648"/>
            <a:ext cx="27220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semi-supervised</a:t>
            </a:r>
            <a:endParaRPr lang="en-US" sz="770"/>
          </a:p>
        </p:txBody>
      </p:sp>
      <p:sp>
        <p:nvSpPr>
          <p:cNvPr id="57" name="Shape 57"/>
          <p:cNvSpPr/>
          <p:nvPr/>
        </p:nvSpPr>
        <p:spPr>
          <a:xfrm>
            <a:off x="6784144" y="4005072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8" name="Text 58"/>
          <p:cNvSpPr txBox="1"/>
          <p:nvPr/>
        </p:nvSpPr>
        <p:spPr>
          <a:xfrm>
            <a:off x="6829864" y="4041648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96.44%</a:t>
            </a:r>
            <a:endParaRPr lang="en-US" sz="770"/>
          </a:p>
        </p:txBody>
      </p:sp>
      <p:sp>
        <p:nvSpPr>
          <p:cNvPr id="59" name="Shape 59"/>
          <p:cNvSpPr/>
          <p:nvPr/>
        </p:nvSpPr>
        <p:spPr>
          <a:xfrm>
            <a:off x="8472267" y="4005072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8517987" y="4041648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99.27%</a:t>
            </a:r>
            <a:endParaRPr lang="en-US" sz="770"/>
          </a:p>
        </p:txBody>
      </p:sp>
      <p:sp>
        <p:nvSpPr>
          <p:cNvPr id="61" name="Shape 61"/>
          <p:cNvSpPr/>
          <p:nvPr/>
        </p:nvSpPr>
        <p:spPr>
          <a:xfrm>
            <a:off x="10160390" y="4005072"/>
            <a:ext cx="1406769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2" name="Text 62"/>
          <p:cNvSpPr txBox="1"/>
          <p:nvPr/>
        </p:nvSpPr>
        <p:spPr>
          <a:xfrm>
            <a:off x="10206110" y="4041648"/>
            <a:ext cx="1315329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0.0363</a:t>
            </a:r>
            <a:endParaRPr lang="en-US" sz="770"/>
          </a:p>
        </p:txBody>
      </p:sp>
      <p:sp>
        <p:nvSpPr>
          <p:cNvPr id="63" name="Shape 63"/>
          <p:cNvSpPr/>
          <p:nvPr/>
        </p:nvSpPr>
        <p:spPr>
          <a:xfrm>
            <a:off x="594360" y="4306824"/>
            <a:ext cx="337624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4" name="Text 64"/>
          <p:cNvSpPr txBox="1"/>
          <p:nvPr/>
        </p:nvSpPr>
        <p:spPr>
          <a:xfrm>
            <a:off x="640080" y="4343400"/>
            <a:ext cx="3284806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STN multi-head</a:t>
            </a:r>
            <a:endParaRPr lang="en-US" sz="770"/>
          </a:p>
        </p:txBody>
      </p:sp>
      <p:sp>
        <p:nvSpPr>
          <p:cNvPr id="65" name="Shape 65"/>
          <p:cNvSpPr/>
          <p:nvPr/>
        </p:nvSpPr>
        <p:spPr>
          <a:xfrm>
            <a:off x="3970606" y="4306824"/>
            <a:ext cx="28135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6" name="Text 66"/>
          <p:cNvSpPr txBox="1"/>
          <p:nvPr/>
        </p:nvSpPr>
        <p:spPr>
          <a:xfrm>
            <a:off x="4016326" y="4343400"/>
            <a:ext cx="27220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contrastive</a:t>
            </a:r>
            <a:endParaRPr lang="en-US" sz="770"/>
          </a:p>
        </p:txBody>
      </p:sp>
      <p:sp>
        <p:nvSpPr>
          <p:cNvPr id="67" name="Shape 67"/>
          <p:cNvSpPr/>
          <p:nvPr/>
        </p:nvSpPr>
        <p:spPr>
          <a:xfrm>
            <a:off x="6784144" y="4306824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8" name="Text 68"/>
          <p:cNvSpPr txBox="1"/>
          <p:nvPr/>
        </p:nvSpPr>
        <p:spPr>
          <a:xfrm>
            <a:off x="6829864" y="4343400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96.31%</a:t>
            </a:r>
            <a:endParaRPr lang="en-US" sz="770"/>
          </a:p>
        </p:txBody>
      </p:sp>
      <p:sp>
        <p:nvSpPr>
          <p:cNvPr id="69" name="Shape 69"/>
          <p:cNvSpPr/>
          <p:nvPr/>
        </p:nvSpPr>
        <p:spPr>
          <a:xfrm>
            <a:off x="8472267" y="4306824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0" name="Text 70"/>
          <p:cNvSpPr txBox="1"/>
          <p:nvPr/>
        </p:nvSpPr>
        <p:spPr>
          <a:xfrm>
            <a:off x="8517987" y="4343400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99.24%</a:t>
            </a:r>
            <a:endParaRPr lang="en-US" sz="770"/>
          </a:p>
        </p:txBody>
      </p:sp>
      <p:sp>
        <p:nvSpPr>
          <p:cNvPr id="71" name="Shape 71"/>
          <p:cNvSpPr/>
          <p:nvPr/>
        </p:nvSpPr>
        <p:spPr>
          <a:xfrm>
            <a:off x="10160390" y="4306824"/>
            <a:ext cx="1406769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2" name="Text 72"/>
          <p:cNvSpPr txBox="1"/>
          <p:nvPr/>
        </p:nvSpPr>
        <p:spPr>
          <a:xfrm>
            <a:off x="10206110" y="4343400"/>
            <a:ext cx="1315329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0.0378</a:t>
            </a:r>
            <a:endParaRPr lang="en-US" sz="770"/>
          </a:p>
        </p:txBody>
      </p:sp>
      <p:sp>
        <p:nvSpPr>
          <p:cNvPr id="73" name="Shape 73"/>
          <p:cNvSpPr/>
          <p:nvPr/>
        </p:nvSpPr>
        <p:spPr>
          <a:xfrm>
            <a:off x="594360" y="4608576"/>
            <a:ext cx="337624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4" name="Text 74"/>
          <p:cNvSpPr txBox="1"/>
          <p:nvPr/>
        </p:nvSpPr>
        <p:spPr>
          <a:xfrm>
            <a:off x="640080" y="4645152"/>
            <a:ext cx="3284806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STN multi-head</a:t>
            </a:r>
            <a:endParaRPr lang="en-US" sz="770"/>
          </a:p>
        </p:txBody>
      </p:sp>
      <p:sp>
        <p:nvSpPr>
          <p:cNvPr id="75" name="Shape 75"/>
          <p:cNvSpPr/>
          <p:nvPr/>
        </p:nvSpPr>
        <p:spPr>
          <a:xfrm>
            <a:off x="3970606" y="4608576"/>
            <a:ext cx="28135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6" name="Text 76"/>
          <p:cNvSpPr txBox="1"/>
          <p:nvPr/>
        </p:nvSpPr>
        <p:spPr>
          <a:xfrm>
            <a:off x="4016326" y="4645152"/>
            <a:ext cx="27220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semi-supervised</a:t>
            </a:r>
            <a:endParaRPr lang="en-US" sz="770"/>
          </a:p>
        </p:txBody>
      </p:sp>
      <p:sp>
        <p:nvSpPr>
          <p:cNvPr id="77" name="Shape 77"/>
          <p:cNvSpPr/>
          <p:nvPr/>
        </p:nvSpPr>
        <p:spPr>
          <a:xfrm>
            <a:off x="6784144" y="4608576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8" name="Text 78"/>
          <p:cNvSpPr txBox="1"/>
          <p:nvPr/>
        </p:nvSpPr>
        <p:spPr>
          <a:xfrm>
            <a:off x="6829864" y="4645152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96.22%</a:t>
            </a:r>
            <a:endParaRPr lang="en-US" sz="770"/>
          </a:p>
        </p:txBody>
      </p:sp>
      <p:sp>
        <p:nvSpPr>
          <p:cNvPr id="79" name="Shape 79"/>
          <p:cNvSpPr/>
          <p:nvPr/>
        </p:nvSpPr>
        <p:spPr>
          <a:xfrm>
            <a:off x="8472267" y="4608576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0" name="Text 80"/>
          <p:cNvSpPr txBox="1"/>
          <p:nvPr/>
        </p:nvSpPr>
        <p:spPr>
          <a:xfrm>
            <a:off x="8517987" y="4645152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99.22%</a:t>
            </a:r>
            <a:endParaRPr lang="en-US" sz="770"/>
          </a:p>
        </p:txBody>
      </p:sp>
      <p:sp>
        <p:nvSpPr>
          <p:cNvPr id="81" name="Shape 81"/>
          <p:cNvSpPr/>
          <p:nvPr/>
        </p:nvSpPr>
        <p:spPr>
          <a:xfrm>
            <a:off x="10160390" y="4608576"/>
            <a:ext cx="1406769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2" name="Text 82"/>
          <p:cNvSpPr txBox="1"/>
          <p:nvPr/>
        </p:nvSpPr>
        <p:spPr>
          <a:xfrm>
            <a:off x="10206110" y="4645152"/>
            <a:ext cx="1315329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0.0387</a:t>
            </a:r>
            <a:endParaRPr lang="en-US" sz="770"/>
          </a:p>
        </p:txBody>
      </p:sp>
      <p:sp>
        <p:nvSpPr>
          <p:cNvPr id="83" name="Shape 83"/>
          <p:cNvSpPr/>
          <p:nvPr/>
        </p:nvSpPr>
        <p:spPr>
          <a:xfrm>
            <a:off x="594360" y="4910328"/>
            <a:ext cx="337624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4" name="Text 84"/>
          <p:cNvSpPr txBox="1"/>
          <p:nvPr/>
        </p:nvSpPr>
        <p:spPr>
          <a:xfrm>
            <a:off x="640080" y="4946904"/>
            <a:ext cx="3284806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ResNet multi-head</a:t>
            </a:r>
            <a:endParaRPr lang="en-US" sz="770"/>
          </a:p>
        </p:txBody>
      </p:sp>
      <p:sp>
        <p:nvSpPr>
          <p:cNvPr id="85" name="Shape 85"/>
          <p:cNvSpPr/>
          <p:nvPr/>
        </p:nvSpPr>
        <p:spPr>
          <a:xfrm>
            <a:off x="3970606" y="4910328"/>
            <a:ext cx="28135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6" name="Text 86"/>
          <p:cNvSpPr txBox="1"/>
          <p:nvPr/>
        </p:nvSpPr>
        <p:spPr>
          <a:xfrm>
            <a:off x="4016326" y="4946904"/>
            <a:ext cx="27220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contrastive</a:t>
            </a:r>
            <a:endParaRPr lang="en-US" sz="770"/>
          </a:p>
        </p:txBody>
      </p:sp>
      <p:sp>
        <p:nvSpPr>
          <p:cNvPr id="87" name="Shape 87"/>
          <p:cNvSpPr/>
          <p:nvPr/>
        </p:nvSpPr>
        <p:spPr>
          <a:xfrm>
            <a:off x="6784144" y="4910328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8" name="Text 88"/>
          <p:cNvSpPr txBox="1"/>
          <p:nvPr/>
        </p:nvSpPr>
        <p:spPr>
          <a:xfrm>
            <a:off x="6829864" y="4946904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96.18%</a:t>
            </a:r>
            <a:endParaRPr lang="en-US" sz="770"/>
          </a:p>
        </p:txBody>
      </p:sp>
      <p:sp>
        <p:nvSpPr>
          <p:cNvPr id="89" name="Shape 89"/>
          <p:cNvSpPr/>
          <p:nvPr/>
        </p:nvSpPr>
        <p:spPr>
          <a:xfrm>
            <a:off x="8472267" y="4910328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0" name="Text 90"/>
          <p:cNvSpPr txBox="1"/>
          <p:nvPr/>
        </p:nvSpPr>
        <p:spPr>
          <a:xfrm>
            <a:off x="8517987" y="4946904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99.22%</a:t>
            </a:r>
            <a:endParaRPr lang="en-US" sz="770"/>
          </a:p>
        </p:txBody>
      </p:sp>
      <p:sp>
        <p:nvSpPr>
          <p:cNvPr id="91" name="Shape 91"/>
          <p:cNvSpPr/>
          <p:nvPr/>
        </p:nvSpPr>
        <p:spPr>
          <a:xfrm>
            <a:off x="10160390" y="4910328"/>
            <a:ext cx="1406769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2" name="Text 92"/>
          <p:cNvSpPr txBox="1"/>
          <p:nvPr/>
        </p:nvSpPr>
        <p:spPr>
          <a:xfrm>
            <a:off x="10206110" y="4946904"/>
            <a:ext cx="1315329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0.0389</a:t>
            </a:r>
            <a:endParaRPr lang="en-US" sz="770"/>
          </a:p>
        </p:txBody>
      </p:sp>
      <p:sp>
        <p:nvSpPr>
          <p:cNvPr id="93" name="Shape 93"/>
          <p:cNvSpPr/>
          <p:nvPr/>
        </p:nvSpPr>
        <p:spPr>
          <a:xfrm>
            <a:off x="594360" y="5212080"/>
            <a:ext cx="337624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4" name="Text 94"/>
          <p:cNvSpPr txBox="1"/>
          <p:nvPr/>
        </p:nvSpPr>
        <p:spPr>
          <a:xfrm>
            <a:off x="640080" y="5248656"/>
            <a:ext cx="3284806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ResNet multi-head</a:t>
            </a:r>
            <a:endParaRPr lang="en-US" sz="770"/>
          </a:p>
        </p:txBody>
      </p:sp>
      <p:sp>
        <p:nvSpPr>
          <p:cNvPr id="95" name="Shape 95"/>
          <p:cNvSpPr/>
          <p:nvPr/>
        </p:nvSpPr>
        <p:spPr>
          <a:xfrm>
            <a:off x="3970606" y="5212080"/>
            <a:ext cx="28135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6" name="Text 96"/>
          <p:cNvSpPr txBox="1"/>
          <p:nvPr/>
        </p:nvSpPr>
        <p:spPr>
          <a:xfrm>
            <a:off x="4016326" y="5248656"/>
            <a:ext cx="27220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supervised</a:t>
            </a:r>
            <a:endParaRPr lang="en-US" sz="770"/>
          </a:p>
        </p:txBody>
      </p:sp>
      <p:sp>
        <p:nvSpPr>
          <p:cNvPr id="97" name="Shape 97"/>
          <p:cNvSpPr/>
          <p:nvPr/>
        </p:nvSpPr>
        <p:spPr>
          <a:xfrm>
            <a:off x="6784144" y="5212080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8" name="Text 98"/>
          <p:cNvSpPr txBox="1"/>
          <p:nvPr/>
        </p:nvSpPr>
        <p:spPr>
          <a:xfrm>
            <a:off x="6829864" y="5248656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96.17%</a:t>
            </a:r>
            <a:endParaRPr lang="en-US" sz="770"/>
          </a:p>
        </p:txBody>
      </p:sp>
      <p:sp>
        <p:nvSpPr>
          <p:cNvPr id="99" name="Shape 99"/>
          <p:cNvSpPr/>
          <p:nvPr/>
        </p:nvSpPr>
        <p:spPr>
          <a:xfrm>
            <a:off x="8472267" y="5212080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0" name="Text 100"/>
          <p:cNvSpPr txBox="1"/>
          <p:nvPr/>
        </p:nvSpPr>
        <p:spPr>
          <a:xfrm>
            <a:off x="8517987" y="5248656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99.22%</a:t>
            </a:r>
            <a:endParaRPr lang="en-US" sz="770"/>
          </a:p>
        </p:txBody>
      </p:sp>
      <p:sp>
        <p:nvSpPr>
          <p:cNvPr id="101" name="Shape 101"/>
          <p:cNvSpPr/>
          <p:nvPr/>
        </p:nvSpPr>
        <p:spPr>
          <a:xfrm>
            <a:off x="10160390" y="5212080"/>
            <a:ext cx="1406769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2" name="Text 102"/>
          <p:cNvSpPr txBox="1"/>
          <p:nvPr/>
        </p:nvSpPr>
        <p:spPr>
          <a:xfrm>
            <a:off x="10206110" y="5248656"/>
            <a:ext cx="1315329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0.0390</a:t>
            </a:r>
            <a:endParaRPr lang="en-US" sz="770"/>
          </a:p>
        </p:txBody>
      </p:sp>
      <p:sp>
        <p:nvSpPr>
          <p:cNvPr id="103" name="Shape 103"/>
          <p:cNvSpPr/>
          <p:nvPr/>
        </p:nvSpPr>
        <p:spPr>
          <a:xfrm>
            <a:off x="594360" y="5513832"/>
            <a:ext cx="337624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4" name="Text 104"/>
          <p:cNvSpPr txBox="1"/>
          <p:nvPr/>
        </p:nvSpPr>
        <p:spPr>
          <a:xfrm>
            <a:off x="640080" y="5550408"/>
            <a:ext cx="3284806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STN multi-head</a:t>
            </a:r>
            <a:endParaRPr lang="en-US" sz="770"/>
          </a:p>
        </p:txBody>
      </p:sp>
      <p:sp>
        <p:nvSpPr>
          <p:cNvPr id="105" name="Shape 105"/>
          <p:cNvSpPr/>
          <p:nvPr/>
        </p:nvSpPr>
        <p:spPr>
          <a:xfrm>
            <a:off x="3970606" y="5513832"/>
            <a:ext cx="28135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6" name="Text 106"/>
          <p:cNvSpPr txBox="1"/>
          <p:nvPr/>
        </p:nvSpPr>
        <p:spPr>
          <a:xfrm>
            <a:off x="4016326" y="5550408"/>
            <a:ext cx="27220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supervised</a:t>
            </a:r>
            <a:endParaRPr lang="en-US" sz="770"/>
          </a:p>
        </p:txBody>
      </p:sp>
      <p:sp>
        <p:nvSpPr>
          <p:cNvPr id="107" name="Shape 107"/>
          <p:cNvSpPr/>
          <p:nvPr/>
        </p:nvSpPr>
        <p:spPr>
          <a:xfrm>
            <a:off x="6784144" y="5513832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8" name="Text 108"/>
          <p:cNvSpPr txBox="1"/>
          <p:nvPr/>
        </p:nvSpPr>
        <p:spPr>
          <a:xfrm>
            <a:off x="6829864" y="5550408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96.11%</a:t>
            </a:r>
            <a:endParaRPr lang="en-US" sz="770"/>
          </a:p>
        </p:txBody>
      </p:sp>
      <p:sp>
        <p:nvSpPr>
          <p:cNvPr id="109" name="Shape 109"/>
          <p:cNvSpPr/>
          <p:nvPr/>
        </p:nvSpPr>
        <p:spPr>
          <a:xfrm>
            <a:off x="8472267" y="5513832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0" name="Text 110"/>
          <p:cNvSpPr txBox="1"/>
          <p:nvPr/>
        </p:nvSpPr>
        <p:spPr>
          <a:xfrm>
            <a:off x="8517987" y="5550408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99.20%</a:t>
            </a:r>
            <a:endParaRPr lang="en-US" sz="770"/>
          </a:p>
        </p:txBody>
      </p:sp>
      <p:sp>
        <p:nvSpPr>
          <p:cNvPr id="111" name="Shape 111"/>
          <p:cNvSpPr/>
          <p:nvPr/>
        </p:nvSpPr>
        <p:spPr>
          <a:xfrm>
            <a:off x="10160390" y="5513832"/>
            <a:ext cx="1406769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2" name="Text 112"/>
          <p:cNvSpPr txBox="1"/>
          <p:nvPr/>
        </p:nvSpPr>
        <p:spPr>
          <a:xfrm>
            <a:off x="10206110" y="5550408"/>
            <a:ext cx="1315329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0.0397</a:t>
            </a:r>
            <a:endParaRPr lang="en-US" sz="770"/>
          </a:p>
        </p:txBody>
      </p:sp>
      <p:sp>
        <p:nvSpPr>
          <p:cNvPr id="113" name="Shape 113"/>
          <p:cNvSpPr/>
          <p:nvPr/>
        </p:nvSpPr>
        <p:spPr>
          <a:xfrm>
            <a:off x="594360" y="5815584"/>
            <a:ext cx="337624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4" name="Text 114"/>
          <p:cNvSpPr txBox="1"/>
          <p:nvPr/>
        </p:nvSpPr>
        <p:spPr>
          <a:xfrm>
            <a:off x="640080" y="5852160"/>
            <a:ext cx="3284806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STN multi-head</a:t>
            </a:r>
            <a:endParaRPr lang="en-US" sz="770"/>
          </a:p>
        </p:txBody>
      </p:sp>
      <p:sp>
        <p:nvSpPr>
          <p:cNvPr id="115" name="Shape 115"/>
          <p:cNvSpPr/>
          <p:nvPr/>
        </p:nvSpPr>
        <p:spPr>
          <a:xfrm>
            <a:off x="3970606" y="5815584"/>
            <a:ext cx="28135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6" name="Text 116"/>
          <p:cNvSpPr txBox="1"/>
          <p:nvPr/>
        </p:nvSpPr>
        <p:spPr>
          <a:xfrm>
            <a:off x="4016326" y="5852160"/>
            <a:ext cx="27220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consistency</a:t>
            </a:r>
            <a:endParaRPr lang="en-US" sz="770"/>
          </a:p>
        </p:txBody>
      </p:sp>
      <p:sp>
        <p:nvSpPr>
          <p:cNvPr id="117" name="Shape 117"/>
          <p:cNvSpPr/>
          <p:nvPr/>
        </p:nvSpPr>
        <p:spPr>
          <a:xfrm>
            <a:off x="6784144" y="5815584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8" name="Text 118"/>
          <p:cNvSpPr txBox="1"/>
          <p:nvPr/>
        </p:nvSpPr>
        <p:spPr>
          <a:xfrm>
            <a:off x="6829864" y="5852160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95.31%</a:t>
            </a:r>
            <a:endParaRPr lang="en-US" sz="770"/>
          </a:p>
        </p:txBody>
      </p:sp>
      <p:sp>
        <p:nvSpPr>
          <p:cNvPr id="119" name="Shape 119"/>
          <p:cNvSpPr/>
          <p:nvPr/>
        </p:nvSpPr>
        <p:spPr>
          <a:xfrm>
            <a:off x="8472267" y="5815584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0" name="Text 120"/>
          <p:cNvSpPr txBox="1"/>
          <p:nvPr/>
        </p:nvSpPr>
        <p:spPr>
          <a:xfrm>
            <a:off x="8517987" y="5852160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99.03%</a:t>
            </a:r>
            <a:endParaRPr lang="en-US" sz="770"/>
          </a:p>
        </p:txBody>
      </p:sp>
      <p:sp>
        <p:nvSpPr>
          <p:cNvPr id="121" name="Shape 121"/>
          <p:cNvSpPr/>
          <p:nvPr/>
        </p:nvSpPr>
        <p:spPr>
          <a:xfrm>
            <a:off x="10160390" y="5815584"/>
            <a:ext cx="1406769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2" name="Text 122"/>
          <p:cNvSpPr txBox="1"/>
          <p:nvPr/>
        </p:nvSpPr>
        <p:spPr>
          <a:xfrm>
            <a:off x="10206110" y="5852160"/>
            <a:ext cx="1315329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0.0484</a:t>
            </a:r>
            <a:endParaRPr lang="en-US" sz="770"/>
          </a:p>
        </p:txBody>
      </p:sp>
      <p:sp>
        <p:nvSpPr>
          <p:cNvPr id="123" name="Shape 123"/>
          <p:cNvSpPr/>
          <p:nvPr/>
        </p:nvSpPr>
        <p:spPr>
          <a:xfrm>
            <a:off x="594360" y="6117336"/>
            <a:ext cx="3376246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4" name="Text 124"/>
          <p:cNvSpPr txBox="1"/>
          <p:nvPr/>
        </p:nvSpPr>
        <p:spPr>
          <a:xfrm>
            <a:off x="640080" y="6153912"/>
            <a:ext cx="3284806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ResNet multi-head</a:t>
            </a:r>
            <a:endParaRPr lang="en-US" sz="770"/>
          </a:p>
        </p:txBody>
      </p:sp>
      <p:sp>
        <p:nvSpPr>
          <p:cNvPr id="125" name="Shape 125"/>
          <p:cNvSpPr/>
          <p:nvPr/>
        </p:nvSpPr>
        <p:spPr>
          <a:xfrm>
            <a:off x="3970606" y="6117336"/>
            <a:ext cx="281353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6" name="Text 126"/>
          <p:cNvSpPr txBox="1"/>
          <p:nvPr/>
        </p:nvSpPr>
        <p:spPr>
          <a:xfrm>
            <a:off x="4016326" y="6153912"/>
            <a:ext cx="272209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consistency</a:t>
            </a:r>
            <a:endParaRPr lang="en-US" sz="770"/>
          </a:p>
        </p:txBody>
      </p:sp>
      <p:sp>
        <p:nvSpPr>
          <p:cNvPr id="127" name="Shape 127"/>
          <p:cNvSpPr/>
          <p:nvPr/>
        </p:nvSpPr>
        <p:spPr>
          <a:xfrm>
            <a:off x="6784144" y="6117336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28" name="Text 128"/>
          <p:cNvSpPr txBox="1"/>
          <p:nvPr/>
        </p:nvSpPr>
        <p:spPr>
          <a:xfrm>
            <a:off x="6829864" y="6153912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95.29%</a:t>
            </a:r>
            <a:endParaRPr lang="en-US" sz="770"/>
          </a:p>
        </p:txBody>
      </p:sp>
      <p:sp>
        <p:nvSpPr>
          <p:cNvPr id="129" name="Shape 129"/>
          <p:cNvSpPr/>
          <p:nvPr/>
        </p:nvSpPr>
        <p:spPr>
          <a:xfrm>
            <a:off x="8472267" y="6117336"/>
            <a:ext cx="1688123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0" name="Text 130"/>
          <p:cNvSpPr txBox="1"/>
          <p:nvPr/>
        </p:nvSpPr>
        <p:spPr>
          <a:xfrm>
            <a:off x="8517987" y="6153912"/>
            <a:ext cx="1596683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99.03%</a:t>
            </a:r>
            <a:endParaRPr lang="en-US" sz="770"/>
          </a:p>
        </p:txBody>
      </p:sp>
      <p:sp>
        <p:nvSpPr>
          <p:cNvPr id="131" name="Shape 131"/>
          <p:cNvSpPr/>
          <p:nvPr/>
        </p:nvSpPr>
        <p:spPr>
          <a:xfrm>
            <a:off x="10160390" y="6117336"/>
            <a:ext cx="1406769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2" name="Text 132"/>
          <p:cNvSpPr txBox="1"/>
          <p:nvPr/>
        </p:nvSpPr>
        <p:spPr>
          <a:xfrm>
            <a:off x="10206110" y="6153912"/>
            <a:ext cx="1315329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0.0483</a:t>
            </a:r>
            <a:endParaRPr lang="en-US" sz="7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1">
                <a:solidFill>
                  <a:srgbClr val="20242A"/>
                </a:solidFill>
                <a:latin typeface="Aptos"/>
              </a:rPr>
              <a:t>Chained result - denoising + recognition</a:t>
            </a:r>
            <a:endParaRPr lang="en-US" sz="2400"/>
          </a:p>
        </p:txBody>
      </p:sp>
      <p:sp>
        <p:nvSpPr>
          <p:cNvPr id="4" name="Text 4"/>
          <p:cNvSpPr txBox="1"/>
          <p:nvPr/>
        </p:nvSpPr>
        <p:spPr>
          <a:xfrm>
            <a:off x="8961120" y="347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900" b="0">
                <a:solidFill>
                  <a:srgbClr val="5B6573"/>
                </a:solidFill>
                <a:latin typeface="Aptos"/>
              </a:rPr>
              <a:t>88-task evaluation</a:t>
            </a:r>
            <a:endParaRPr lang="en-US" sz="900"/>
          </a:p>
        </p:txBody>
      </p:sp>
      <p:sp>
        <p:nvSpPr>
          <p:cNvPr id="5" name="Shape 5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594360" y="1051560"/>
            <a:ext cx="2032000" cy="34747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640080" y="1088136"/>
            <a:ext cx="194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input group</a:t>
            </a:r>
            <a:endParaRPr lang="en-US" sz="770"/>
          </a:p>
        </p:txBody>
      </p:sp>
      <p:sp>
        <p:nvSpPr>
          <p:cNvPr id="8" name="Shape 8"/>
          <p:cNvSpPr/>
          <p:nvPr/>
        </p:nvSpPr>
        <p:spPr>
          <a:xfrm>
            <a:off x="2626360" y="1051560"/>
            <a:ext cx="3901440" cy="34747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2672080" y="1088136"/>
            <a:ext cx="3810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best recognition model</a:t>
            </a:r>
            <a:endParaRPr lang="en-US" sz="770"/>
          </a:p>
        </p:txBody>
      </p:sp>
      <p:sp>
        <p:nvSpPr>
          <p:cNvPr id="10" name="Shape 10"/>
          <p:cNvSpPr/>
          <p:nvPr/>
        </p:nvSpPr>
        <p:spPr>
          <a:xfrm>
            <a:off x="6527800" y="1051560"/>
            <a:ext cx="1219200" cy="34747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573520" y="1088136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denoiser</a:t>
            </a:r>
            <a:endParaRPr lang="en-US" sz="770"/>
          </a:p>
        </p:txBody>
      </p:sp>
      <p:sp>
        <p:nvSpPr>
          <p:cNvPr id="12" name="Shape 12"/>
          <p:cNvSpPr/>
          <p:nvPr/>
        </p:nvSpPr>
        <p:spPr>
          <a:xfrm>
            <a:off x="7747000" y="1051560"/>
            <a:ext cx="1300480" cy="34747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792720" y="1088136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seq acc</a:t>
            </a:r>
            <a:endParaRPr lang="en-US" sz="770"/>
          </a:p>
        </p:txBody>
      </p:sp>
      <p:sp>
        <p:nvSpPr>
          <p:cNvPr id="14" name="Shape 14"/>
          <p:cNvSpPr/>
          <p:nvPr/>
        </p:nvSpPr>
        <p:spPr>
          <a:xfrm>
            <a:off x="9047480" y="1051560"/>
            <a:ext cx="1300480" cy="34747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9093200" y="1088136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char acc</a:t>
            </a:r>
            <a:endParaRPr lang="en-US" sz="770"/>
          </a:p>
        </p:txBody>
      </p:sp>
      <p:sp>
        <p:nvSpPr>
          <p:cNvPr id="16" name="Shape 16"/>
          <p:cNvSpPr/>
          <p:nvPr/>
        </p:nvSpPr>
        <p:spPr>
          <a:xfrm>
            <a:off x="10347960" y="1051560"/>
            <a:ext cx="1219200" cy="347472"/>
          </a:xfrm>
          <a:prstGeom prst="rect">
            <a:avLst/>
          </a:prstGeom>
          <a:solidFill>
            <a:srgbClr val="EBF1F4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0393680" y="1088136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1">
                <a:solidFill>
                  <a:srgbClr val="20242A"/>
                </a:solidFill>
                <a:latin typeface="Aptos"/>
              </a:rPr>
              <a:t>gain</a:t>
            </a:r>
            <a:endParaRPr lang="en-US" sz="770"/>
          </a:p>
        </p:txBody>
      </p:sp>
      <p:sp>
        <p:nvSpPr>
          <p:cNvPr id="18" name="Shape 18"/>
          <p:cNvSpPr/>
          <p:nvPr/>
        </p:nvSpPr>
        <p:spPr>
          <a:xfrm>
            <a:off x="594360" y="1399032"/>
            <a:ext cx="2032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640080" y="1435608"/>
            <a:ext cx="194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normal</a:t>
            </a:r>
            <a:endParaRPr lang="en-US" sz="770"/>
          </a:p>
        </p:txBody>
      </p:sp>
      <p:sp>
        <p:nvSpPr>
          <p:cNvPr id="20" name="Shape 20"/>
          <p:cNvSpPr/>
          <p:nvPr/>
        </p:nvSpPr>
        <p:spPr>
          <a:xfrm>
            <a:off x="2626360" y="1399032"/>
            <a:ext cx="3901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2672080" y="1435608"/>
            <a:ext cx="3810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train_014 semisupervised</a:t>
            </a:r>
            <a:endParaRPr lang="en-US" sz="770"/>
          </a:p>
        </p:txBody>
      </p:sp>
      <p:sp>
        <p:nvSpPr>
          <p:cNvPr id="22" name="Shape 22"/>
          <p:cNvSpPr/>
          <p:nvPr/>
        </p:nvSpPr>
        <p:spPr>
          <a:xfrm>
            <a:off x="6527800" y="1399032"/>
            <a:ext cx="121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573520" y="1435608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-</a:t>
            </a:r>
            <a:endParaRPr lang="en-US" sz="770"/>
          </a:p>
        </p:txBody>
      </p:sp>
      <p:sp>
        <p:nvSpPr>
          <p:cNvPr id="24" name="Shape 24"/>
          <p:cNvSpPr/>
          <p:nvPr/>
        </p:nvSpPr>
        <p:spPr>
          <a:xfrm>
            <a:off x="7747000" y="1399032"/>
            <a:ext cx="1300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7792720" y="1435608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96.43%</a:t>
            </a:r>
            <a:endParaRPr lang="en-US" sz="770"/>
          </a:p>
        </p:txBody>
      </p:sp>
      <p:sp>
        <p:nvSpPr>
          <p:cNvPr id="26" name="Shape 26"/>
          <p:cNvSpPr/>
          <p:nvPr/>
        </p:nvSpPr>
        <p:spPr>
          <a:xfrm>
            <a:off x="9047480" y="1399032"/>
            <a:ext cx="1300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093200" y="1435608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99.27%</a:t>
            </a:r>
            <a:endParaRPr lang="en-US" sz="770"/>
          </a:p>
        </p:txBody>
      </p:sp>
      <p:sp>
        <p:nvSpPr>
          <p:cNvPr id="28" name="Shape 28"/>
          <p:cNvSpPr/>
          <p:nvPr/>
        </p:nvSpPr>
        <p:spPr>
          <a:xfrm>
            <a:off x="10347960" y="1399032"/>
            <a:ext cx="121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10393680" y="1435608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-</a:t>
            </a:r>
            <a:endParaRPr lang="en-US" sz="770"/>
          </a:p>
        </p:txBody>
      </p:sp>
      <p:sp>
        <p:nvSpPr>
          <p:cNvPr id="30" name="Shape 30"/>
          <p:cNvSpPr/>
          <p:nvPr/>
        </p:nvSpPr>
        <p:spPr>
          <a:xfrm>
            <a:off x="594360" y="1746504"/>
            <a:ext cx="2032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40080" y="1783080"/>
            <a:ext cx="194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dirty</a:t>
            </a:r>
            <a:endParaRPr lang="en-US" sz="770"/>
          </a:p>
        </p:txBody>
      </p:sp>
      <p:sp>
        <p:nvSpPr>
          <p:cNvPr id="32" name="Shape 32"/>
          <p:cNvSpPr/>
          <p:nvPr/>
        </p:nvSpPr>
        <p:spPr>
          <a:xfrm>
            <a:off x="2626360" y="1746504"/>
            <a:ext cx="3901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2672080" y="1783080"/>
            <a:ext cx="3810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train_011 consistency</a:t>
            </a:r>
            <a:endParaRPr lang="en-US" sz="770"/>
          </a:p>
        </p:txBody>
      </p:sp>
      <p:sp>
        <p:nvSpPr>
          <p:cNvPr id="34" name="Shape 34"/>
          <p:cNvSpPr/>
          <p:nvPr/>
        </p:nvSpPr>
        <p:spPr>
          <a:xfrm>
            <a:off x="6527800" y="1746504"/>
            <a:ext cx="121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6573520" y="1783080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-</a:t>
            </a:r>
            <a:endParaRPr lang="en-US" sz="770"/>
          </a:p>
        </p:txBody>
      </p:sp>
      <p:sp>
        <p:nvSpPr>
          <p:cNvPr id="36" name="Shape 36"/>
          <p:cNvSpPr/>
          <p:nvPr/>
        </p:nvSpPr>
        <p:spPr>
          <a:xfrm>
            <a:off x="7747000" y="1746504"/>
            <a:ext cx="1300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7792720" y="1783080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3.67%</a:t>
            </a:r>
            <a:endParaRPr lang="en-US" sz="770"/>
          </a:p>
        </p:txBody>
      </p:sp>
      <p:sp>
        <p:nvSpPr>
          <p:cNvPr id="38" name="Shape 38"/>
          <p:cNvSpPr/>
          <p:nvPr/>
        </p:nvSpPr>
        <p:spPr>
          <a:xfrm>
            <a:off x="9047480" y="1746504"/>
            <a:ext cx="1300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9093200" y="1783080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42.20%</a:t>
            </a:r>
            <a:endParaRPr lang="en-US" sz="770"/>
          </a:p>
        </p:txBody>
      </p:sp>
      <p:sp>
        <p:nvSpPr>
          <p:cNvPr id="40" name="Shape 40"/>
          <p:cNvSpPr/>
          <p:nvPr/>
        </p:nvSpPr>
        <p:spPr>
          <a:xfrm>
            <a:off x="10347960" y="1746504"/>
            <a:ext cx="121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10393680" y="1783080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-</a:t>
            </a:r>
            <a:endParaRPr lang="en-US" sz="770"/>
          </a:p>
        </p:txBody>
      </p:sp>
      <p:sp>
        <p:nvSpPr>
          <p:cNvPr id="42" name="Shape 42"/>
          <p:cNvSpPr/>
          <p:nvPr/>
        </p:nvSpPr>
        <p:spPr>
          <a:xfrm>
            <a:off x="594360" y="2093976"/>
            <a:ext cx="2032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640080" y="2130552"/>
            <a:ext cx="194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clean</a:t>
            </a:r>
            <a:endParaRPr lang="en-US" sz="770"/>
          </a:p>
        </p:txBody>
      </p:sp>
      <p:sp>
        <p:nvSpPr>
          <p:cNvPr id="44" name="Shape 44"/>
          <p:cNvSpPr/>
          <p:nvPr/>
        </p:nvSpPr>
        <p:spPr>
          <a:xfrm>
            <a:off x="2626360" y="2093976"/>
            <a:ext cx="3901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2672080" y="2130552"/>
            <a:ext cx="3810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train_015 consistency</a:t>
            </a:r>
            <a:endParaRPr lang="en-US" sz="770"/>
          </a:p>
        </p:txBody>
      </p:sp>
      <p:sp>
        <p:nvSpPr>
          <p:cNvPr id="46" name="Shape 46"/>
          <p:cNvSpPr/>
          <p:nvPr/>
        </p:nvSpPr>
        <p:spPr>
          <a:xfrm>
            <a:off x="6527800" y="2093976"/>
            <a:ext cx="121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6573520" y="2130552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-</a:t>
            </a:r>
            <a:endParaRPr lang="en-US" sz="770"/>
          </a:p>
        </p:txBody>
      </p:sp>
      <p:sp>
        <p:nvSpPr>
          <p:cNvPr id="48" name="Shape 48"/>
          <p:cNvSpPr/>
          <p:nvPr/>
        </p:nvSpPr>
        <p:spPr>
          <a:xfrm>
            <a:off x="7747000" y="2093976"/>
            <a:ext cx="1300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7792720" y="2130552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0.21%</a:t>
            </a:r>
            <a:endParaRPr lang="en-US" sz="770"/>
          </a:p>
        </p:txBody>
      </p:sp>
      <p:sp>
        <p:nvSpPr>
          <p:cNvPr id="50" name="Shape 50"/>
          <p:cNvSpPr/>
          <p:nvPr/>
        </p:nvSpPr>
        <p:spPr>
          <a:xfrm>
            <a:off x="9047480" y="2093976"/>
            <a:ext cx="1300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9093200" y="2130552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30.12%</a:t>
            </a:r>
            <a:endParaRPr lang="en-US" sz="770"/>
          </a:p>
        </p:txBody>
      </p:sp>
      <p:sp>
        <p:nvSpPr>
          <p:cNvPr id="52" name="Shape 52"/>
          <p:cNvSpPr/>
          <p:nvPr/>
        </p:nvSpPr>
        <p:spPr>
          <a:xfrm>
            <a:off x="10347960" y="2093976"/>
            <a:ext cx="121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10393680" y="2130552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-</a:t>
            </a:r>
            <a:endParaRPr lang="en-US" sz="770"/>
          </a:p>
        </p:txBody>
      </p:sp>
      <p:sp>
        <p:nvSpPr>
          <p:cNvPr id="54" name="Shape 54"/>
          <p:cNvSpPr/>
          <p:nvPr/>
        </p:nvSpPr>
        <p:spPr>
          <a:xfrm>
            <a:off x="594360" y="2441448"/>
            <a:ext cx="2032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640080" y="2478024"/>
            <a:ext cx="194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dirty denoised</a:t>
            </a:r>
            <a:endParaRPr lang="en-US" sz="770"/>
          </a:p>
        </p:txBody>
      </p:sp>
      <p:sp>
        <p:nvSpPr>
          <p:cNvPr id="56" name="Shape 56"/>
          <p:cNvSpPr/>
          <p:nvPr/>
        </p:nvSpPr>
        <p:spPr>
          <a:xfrm>
            <a:off x="2626360" y="2441448"/>
            <a:ext cx="3901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2672080" y="2478024"/>
            <a:ext cx="3810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train_011 consistency</a:t>
            </a:r>
            <a:endParaRPr lang="en-US" sz="770"/>
          </a:p>
        </p:txBody>
      </p:sp>
      <p:sp>
        <p:nvSpPr>
          <p:cNvPr id="58" name="Shape 58"/>
          <p:cNvSpPr/>
          <p:nvPr/>
        </p:nvSpPr>
        <p:spPr>
          <a:xfrm>
            <a:off x="6527800" y="2441448"/>
            <a:ext cx="121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6573520" y="2478024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M1</a:t>
            </a:r>
            <a:endParaRPr lang="en-US" sz="770"/>
          </a:p>
        </p:txBody>
      </p:sp>
      <p:sp>
        <p:nvSpPr>
          <p:cNvPr id="60" name="Shape 60"/>
          <p:cNvSpPr/>
          <p:nvPr/>
        </p:nvSpPr>
        <p:spPr>
          <a:xfrm>
            <a:off x="7747000" y="2441448"/>
            <a:ext cx="1300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7792720" y="2478024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74.04%</a:t>
            </a:r>
            <a:endParaRPr lang="en-US" sz="770"/>
          </a:p>
        </p:txBody>
      </p:sp>
      <p:sp>
        <p:nvSpPr>
          <p:cNvPr id="62" name="Shape 62"/>
          <p:cNvSpPr/>
          <p:nvPr/>
        </p:nvSpPr>
        <p:spPr>
          <a:xfrm>
            <a:off x="9047480" y="2441448"/>
            <a:ext cx="1300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9093200" y="2478024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93.17%</a:t>
            </a:r>
            <a:endParaRPr lang="en-US" sz="770"/>
          </a:p>
        </p:txBody>
      </p:sp>
      <p:sp>
        <p:nvSpPr>
          <p:cNvPr id="64" name="Shape 64"/>
          <p:cNvSpPr/>
          <p:nvPr/>
        </p:nvSpPr>
        <p:spPr>
          <a:xfrm>
            <a:off x="10347960" y="2441448"/>
            <a:ext cx="121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10393680" y="2478024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70.37%</a:t>
            </a:r>
            <a:endParaRPr lang="en-US" sz="770"/>
          </a:p>
        </p:txBody>
      </p:sp>
      <p:sp>
        <p:nvSpPr>
          <p:cNvPr id="66" name="Shape 66"/>
          <p:cNvSpPr/>
          <p:nvPr/>
        </p:nvSpPr>
        <p:spPr>
          <a:xfrm>
            <a:off x="594360" y="2788920"/>
            <a:ext cx="2032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7" name="Text 67"/>
          <p:cNvSpPr txBox="1"/>
          <p:nvPr/>
        </p:nvSpPr>
        <p:spPr>
          <a:xfrm>
            <a:off x="640080" y="2825496"/>
            <a:ext cx="194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normal denoised</a:t>
            </a:r>
            <a:endParaRPr lang="en-US" sz="770"/>
          </a:p>
        </p:txBody>
      </p:sp>
      <p:sp>
        <p:nvSpPr>
          <p:cNvPr id="68" name="Shape 68"/>
          <p:cNvSpPr/>
          <p:nvPr/>
        </p:nvSpPr>
        <p:spPr>
          <a:xfrm>
            <a:off x="2626360" y="2788920"/>
            <a:ext cx="3901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9" name="Text 69"/>
          <p:cNvSpPr txBox="1"/>
          <p:nvPr/>
        </p:nvSpPr>
        <p:spPr>
          <a:xfrm>
            <a:off x="2672080" y="2825496"/>
            <a:ext cx="3810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train_014 semisupervised</a:t>
            </a:r>
            <a:endParaRPr lang="en-US" sz="770"/>
          </a:p>
        </p:txBody>
      </p:sp>
      <p:sp>
        <p:nvSpPr>
          <p:cNvPr id="70" name="Shape 70"/>
          <p:cNvSpPr/>
          <p:nvPr/>
        </p:nvSpPr>
        <p:spPr>
          <a:xfrm>
            <a:off x="6527800" y="2788920"/>
            <a:ext cx="121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1" name="Text 71"/>
          <p:cNvSpPr txBox="1"/>
          <p:nvPr/>
        </p:nvSpPr>
        <p:spPr>
          <a:xfrm>
            <a:off x="6573520" y="2825496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M6</a:t>
            </a:r>
            <a:endParaRPr lang="en-US" sz="770"/>
          </a:p>
        </p:txBody>
      </p:sp>
      <p:sp>
        <p:nvSpPr>
          <p:cNvPr id="72" name="Shape 72"/>
          <p:cNvSpPr/>
          <p:nvPr/>
        </p:nvSpPr>
        <p:spPr>
          <a:xfrm>
            <a:off x="7747000" y="2788920"/>
            <a:ext cx="1300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3" name="Text 73"/>
          <p:cNvSpPr txBox="1"/>
          <p:nvPr/>
        </p:nvSpPr>
        <p:spPr>
          <a:xfrm>
            <a:off x="7792720" y="2825496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96.29%</a:t>
            </a:r>
            <a:endParaRPr lang="en-US" sz="770"/>
          </a:p>
        </p:txBody>
      </p:sp>
      <p:sp>
        <p:nvSpPr>
          <p:cNvPr id="74" name="Shape 74"/>
          <p:cNvSpPr/>
          <p:nvPr/>
        </p:nvSpPr>
        <p:spPr>
          <a:xfrm>
            <a:off x="9047480" y="2788920"/>
            <a:ext cx="13004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5" name="Text 75"/>
          <p:cNvSpPr txBox="1"/>
          <p:nvPr/>
        </p:nvSpPr>
        <p:spPr>
          <a:xfrm>
            <a:off x="9093200" y="2825496"/>
            <a:ext cx="1209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99.23%</a:t>
            </a:r>
            <a:endParaRPr lang="en-US" sz="770"/>
          </a:p>
        </p:txBody>
      </p:sp>
      <p:sp>
        <p:nvSpPr>
          <p:cNvPr id="76" name="Shape 76"/>
          <p:cNvSpPr/>
          <p:nvPr/>
        </p:nvSpPr>
        <p:spPr>
          <a:xfrm>
            <a:off x="10347960" y="2788920"/>
            <a:ext cx="1219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7" name="Text 77"/>
          <p:cNvSpPr txBox="1"/>
          <p:nvPr/>
        </p:nvSpPr>
        <p:spPr>
          <a:xfrm>
            <a:off x="10393680" y="2825496"/>
            <a:ext cx="112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70" b="0">
                <a:solidFill>
                  <a:srgbClr val="5B6573"/>
                </a:solidFill>
                <a:latin typeface="Aptos"/>
              </a:rPr>
              <a:t>-0.14%</a:t>
            </a:r>
            <a:endParaRPr lang="en-US" sz="770"/>
          </a:p>
        </p:txBody>
      </p:sp>
      <p:sp>
        <p:nvSpPr>
          <p:cNvPr id="78" name="Text 78"/>
          <p:cNvSpPr txBox="1"/>
          <p:nvPr/>
        </p:nvSpPr>
        <p:spPr>
          <a:xfrm>
            <a:off x="685800" y="3749039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Top restoration gains on dirty-denoised chain</a:t>
            </a:r>
            <a:endParaRPr lang="en-US" sz="1200"/>
          </a:p>
        </p:txBody>
      </p:sp>
      <p:sp>
        <p:nvSpPr>
          <p:cNvPr id="79" name="Text 79"/>
          <p:cNvSpPr txBox="1"/>
          <p:nvPr/>
        </p:nvSpPr>
        <p:spPr>
          <a:xfrm>
            <a:off x="685800" y="4123943"/>
            <a:ext cx="3706977" cy="3002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M1 + train_009</a:t>
            </a:r>
            <a:endParaRPr lang="en-US" sz="760"/>
          </a:p>
        </p:txBody>
      </p:sp>
      <p:sp>
        <p:nvSpPr>
          <p:cNvPr id="80" name="Shape 80"/>
          <p:cNvSpPr/>
          <p:nvPr/>
        </p:nvSpPr>
        <p:spPr>
          <a:xfrm>
            <a:off x="4438497" y="4169663"/>
            <a:ext cx="5003596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Shape 81"/>
          <p:cNvSpPr/>
          <p:nvPr/>
        </p:nvSpPr>
        <p:spPr>
          <a:xfrm>
            <a:off x="4438497" y="4169663"/>
            <a:ext cx="3645620" cy="109728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Text 82"/>
          <p:cNvSpPr txBox="1"/>
          <p:nvPr/>
        </p:nvSpPr>
        <p:spPr>
          <a:xfrm>
            <a:off x="9533533" y="4114799"/>
            <a:ext cx="1563624" cy="3093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72.86%</a:t>
            </a:r>
            <a:endParaRPr lang="en-US" sz="800"/>
          </a:p>
        </p:txBody>
      </p:sp>
      <p:sp>
        <p:nvSpPr>
          <p:cNvPr id="83" name="Text 83"/>
          <p:cNvSpPr txBox="1"/>
          <p:nvPr/>
        </p:nvSpPr>
        <p:spPr>
          <a:xfrm>
            <a:off x="685800" y="4451603"/>
            <a:ext cx="3706977" cy="3002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M1 + train_008</a:t>
            </a:r>
            <a:endParaRPr lang="en-US" sz="760"/>
          </a:p>
        </p:txBody>
      </p:sp>
      <p:sp>
        <p:nvSpPr>
          <p:cNvPr id="84" name="Shape 84"/>
          <p:cNvSpPr/>
          <p:nvPr/>
        </p:nvSpPr>
        <p:spPr>
          <a:xfrm>
            <a:off x="4438497" y="4497323"/>
            <a:ext cx="5003596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Shape 85"/>
          <p:cNvSpPr/>
          <p:nvPr/>
        </p:nvSpPr>
        <p:spPr>
          <a:xfrm>
            <a:off x="4438497" y="4497323"/>
            <a:ext cx="3604256" cy="109728"/>
          </a:xfrm>
          <a:prstGeom prst="rect">
            <a:avLst/>
          </a:prstGeom>
          <a:solidFill>
            <a:srgbClr val="2F67B1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Text 86"/>
          <p:cNvSpPr txBox="1"/>
          <p:nvPr/>
        </p:nvSpPr>
        <p:spPr>
          <a:xfrm>
            <a:off x="9533533" y="4442459"/>
            <a:ext cx="1563624" cy="3093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72.03%</a:t>
            </a:r>
            <a:endParaRPr lang="en-US" sz="800"/>
          </a:p>
        </p:txBody>
      </p:sp>
      <p:sp>
        <p:nvSpPr>
          <p:cNvPr id="87" name="Text 87"/>
          <p:cNvSpPr txBox="1"/>
          <p:nvPr/>
        </p:nvSpPr>
        <p:spPr>
          <a:xfrm>
            <a:off x="685800" y="4779263"/>
            <a:ext cx="3706977" cy="3002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M1 + train_013</a:t>
            </a:r>
            <a:endParaRPr lang="en-US" sz="760"/>
          </a:p>
        </p:txBody>
      </p:sp>
      <p:sp>
        <p:nvSpPr>
          <p:cNvPr id="88" name="Shape 88"/>
          <p:cNvSpPr/>
          <p:nvPr/>
        </p:nvSpPr>
        <p:spPr>
          <a:xfrm>
            <a:off x="4438497" y="4824983"/>
            <a:ext cx="5003596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Shape 89"/>
          <p:cNvSpPr/>
          <p:nvPr/>
        </p:nvSpPr>
        <p:spPr>
          <a:xfrm>
            <a:off x="4438497" y="4824983"/>
            <a:ext cx="3538876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Text 90"/>
          <p:cNvSpPr txBox="1"/>
          <p:nvPr/>
        </p:nvSpPr>
        <p:spPr>
          <a:xfrm>
            <a:off x="9533533" y="4770119"/>
            <a:ext cx="1563624" cy="3093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70.73%</a:t>
            </a:r>
            <a:endParaRPr lang="en-US" sz="800"/>
          </a:p>
        </p:txBody>
      </p:sp>
      <p:sp>
        <p:nvSpPr>
          <p:cNvPr id="91" name="Text 91"/>
          <p:cNvSpPr txBox="1"/>
          <p:nvPr/>
        </p:nvSpPr>
        <p:spPr>
          <a:xfrm>
            <a:off x="685800" y="5106923"/>
            <a:ext cx="3706977" cy="3002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M1 + train_011</a:t>
            </a:r>
            <a:endParaRPr lang="en-US" sz="760"/>
          </a:p>
        </p:txBody>
      </p:sp>
      <p:sp>
        <p:nvSpPr>
          <p:cNvPr id="92" name="Shape 92"/>
          <p:cNvSpPr/>
          <p:nvPr/>
        </p:nvSpPr>
        <p:spPr>
          <a:xfrm>
            <a:off x="4438497" y="5152643"/>
            <a:ext cx="5003596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Shape 93"/>
          <p:cNvSpPr/>
          <p:nvPr/>
        </p:nvSpPr>
        <p:spPr>
          <a:xfrm>
            <a:off x="4438497" y="5152643"/>
            <a:ext cx="3520863" cy="109728"/>
          </a:xfrm>
          <a:prstGeom prst="rect">
            <a:avLst/>
          </a:prstGeom>
          <a:solidFill>
            <a:srgbClr val="D89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Text 94"/>
          <p:cNvSpPr txBox="1"/>
          <p:nvPr/>
        </p:nvSpPr>
        <p:spPr>
          <a:xfrm>
            <a:off x="9533533" y="5097779"/>
            <a:ext cx="1563624" cy="3093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70.37%</a:t>
            </a:r>
            <a:endParaRPr lang="en-US" sz="800"/>
          </a:p>
        </p:txBody>
      </p:sp>
      <p:sp>
        <p:nvSpPr>
          <p:cNvPr id="95" name="Text 95"/>
          <p:cNvSpPr txBox="1"/>
          <p:nvPr/>
        </p:nvSpPr>
        <p:spPr>
          <a:xfrm>
            <a:off x="685800" y="5434583"/>
            <a:ext cx="3706977" cy="3002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M1 + train_012</a:t>
            </a:r>
            <a:endParaRPr lang="en-US" sz="760"/>
          </a:p>
        </p:txBody>
      </p:sp>
      <p:sp>
        <p:nvSpPr>
          <p:cNvPr id="96" name="Shape 96"/>
          <p:cNvSpPr/>
          <p:nvPr/>
        </p:nvSpPr>
        <p:spPr>
          <a:xfrm>
            <a:off x="4438497" y="5480303"/>
            <a:ext cx="5003596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Shape 97"/>
          <p:cNvSpPr/>
          <p:nvPr/>
        </p:nvSpPr>
        <p:spPr>
          <a:xfrm>
            <a:off x="4438497" y="5480303"/>
            <a:ext cx="3485838" cy="109728"/>
          </a:xfrm>
          <a:prstGeom prst="rect">
            <a:avLst/>
          </a:prstGeom>
          <a:solidFill>
            <a:srgbClr val="6E5A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Text 98"/>
          <p:cNvSpPr txBox="1"/>
          <p:nvPr/>
        </p:nvSpPr>
        <p:spPr>
          <a:xfrm>
            <a:off x="9533533" y="5425439"/>
            <a:ext cx="1563624" cy="3093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69.67%</a:t>
            </a:r>
            <a:endParaRPr lang="en-US" sz="800"/>
          </a:p>
        </p:txBody>
      </p:sp>
      <p:sp>
        <p:nvSpPr>
          <p:cNvPr id="99" name="Text 99"/>
          <p:cNvSpPr txBox="1"/>
          <p:nvPr/>
        </p:nvSpPr>
        <p:spPr>
          <a:xfrm>
            <a:off x="685800" y="5762243"/>
            <a:ext cx="3706977" cy="3002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M1 + train_015</a:t>
            </a:r>
            <a:endParaRPr lang="en-US" sz="760"/>
          </a:p>
        </p:txBody>
      </p:sp>
      <p:sp>
        <p:nvSpPr>
          <p:cNvPr id="100" name="Shape 100"/>
          <p:cNvSpPr/>
          <p:nvPr/>
        </p:nvSpPr>
        <p:spPr>
          <a:xfrm>
            <a:off x="4438497" y="5807963"/>
            <a:ext cx="5003596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Shape 101"/>
          <p:cNvSpPr/>
          <p:nvPr/>
        </p:nvSpPr>
        <p:spPr>
          <a:xfrm>
            <a:off x="4438497" y="5807963"/>
            <a:ext cx="3483503" cy="109728"/>
          </a:xfrm>
          <a:prstGeom prst="rect">
            <a:avLst/>
          </a:prstGeom>
          <a:solidFill>
            <a:srgbClr val="B84A3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Text 102"/>
          <p:cNvSpPr txBox="1"/>
          <p:nvPr/>
        </p:nvSpPr>
        <p:spPr>
          <a:xfrm>
            <a:off x="9533533" y="5753099"/>
            <a:ext cx="1563624" cy="3093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69.62%</a:t>
            </a:r>
            <a:endParaRPr lang="en-US" sz="800"/>
          </a:p>
        </p:txBody>
      </p:sp>
      <p:sp>
        <p:nvSpPr>
          <p:cNvPr id="103" name="Text 103"/>
          <p:cNvSpPr txBox="1"/>
          <p:nvPr/>
        </p:nvSpPr>
        <p:spPr>
          <a:xfrm>
            <a:off x="685800" y="59893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00" b="0">
                <a:solidFill>
                  <a:srgbClr val="5B6573"/>
                </a:solidFill>
                <a:latin typeface="Aptos"/>
              </a:rPr>
              <a:t>Key read: dirty inputs improve most after M1 dirty-&gt;normal restoration; normal-&gt;clean restoration is nearly neutral for recognition.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1">
                <a:solidFill>
                  <a:srgbClr val="20242A"/>
                </a:solidFill>
                <a:latin typeface="Aptos"/>
              </a:rPr>
              <a:t>Overall comparison</a:t>
            </a:r>
            <a:endParaRPr lang="en-US" sz="2400"/>
          </a:p>
        </p:txBody>
      </p:sp>
      <p:sp>
        <p:nvSpPr>
          <p:cNvPr id="4" name="Text 4"/>
          <p:cNvSpPr txBox="1"/>
          <p:nvPr/>
        </p:nvSpPr>
        <p:spPr>
          <a:xfrm>
            <a:off x="8961120" y="347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900" b="0">
                <a:solidFill>
                  <a:srgbClr val="5B6573"/>
                </a:solidFill>
                <a:latin typeface="Aptos"/>
              </a:rPr>
              <a:t>quick read</a:t>
            </a:r>
            <a:endParaRPr lang="en-US" sz="900"/>
          </a:p>
        </p:txBody>
      </p:sp>
      <p:sp>
        <p:nvSpPr>
          <p:cNvPr id="5" name="Shape 5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822960" y="1143000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20242A"/>
                </a:solidFill>
                <a:latin typeface="Aptos"/>
              </a:rPr>
              <a:t>Sequence accuracy comparison</a:t>
            </a:r>
            <a:endParaRPr lang="en-US" sz="1200"/>
          </a:p>
        </p:txBody>
      </p:sp>
      <p:sp>
        <p:nvSpPr>
          <p:cNvPr id="7" name="Text 7"/>
          <p:cNvSpPr txBox="1"/>
          <p:nvPr/>
        </p:nvSpPr>
        <p:spPr>
          <a:xfrm>
            <a:off x="822960" y="1517904"/>
            <a:ext cx="3641140" cy="7040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B best</a:t>
            </a:r>
            <a:endParaRPr lang="en-US" sz="760"/>
          </a:p>
        </p:txBody>
      </p:sp>
      <p:sp>
        <p:nvSpPr>
          <p:cNvPr id="8" name="Shape 8"/>
          <p:cNvSpPr/>
          <p:nvPr/>
        </p:nvSpPr>
        <p:spPr>
          <a:xfrm>
            <a:off x="4509820" y="1563624"/>
            <a:ext cx="491581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4509820" y="1563624"/>
            <a:ext cx="4840765" cy="109728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9517074" y="1508760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98.47%</a:t>
            </a:r>
            <a:endParaRPr lang="en-US" sz="800"/>
          </a:p>
        </p:txBody>
      </p:sp>
      <p:sp>
        <p:nvSpPr>
          <p:cNvPr id="11" name="Text 11"/>
          <p:cNvSpPr txBox="1"/>
          <p:nvPr/>
        </p:nvSpPr>
        <p:spPr>
          <a:xfrm>
            <a:off x="822960" y="2249424"/>
            <a:ext cx="3641140" cy="7040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C best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4509820" y="2295144"/>
            <a:ext cx="491581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509820" y="2295144"/>
            <a:ext cx="4740811" cy="109728"/>
          </a:xfrm>
          <a:prstGeom prst="rect">
            <a:avLst/>
          </a:prstGeom>
          <a:solidFill>
            <a:srgbClr val="2F67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9517074" y="2240280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96.44%</a:t>
            </a:r>
            <a:endParaRPr lang="en-US" sz="800"/>
          </a:p>
        </p:txBody>
      </p:sp>
      <p:sp>
        <p:nvSpPr>
          <p:cNvPr id="15" name="Text 15"/>
          <p:cNvSpPr txBox="1"/>
          <p:nvPr/>
        </p:nvSpPr>
        <p:spPr>
          <a:xfrm>
            <a:off x="822960" y="2980944"/>
            <a:ext cx="3641140" cy="7040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Normal chain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4509820" y="3026664"/>
            <a:ext cx="491581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4509820" y="3026664"/>
            <a:ext cx="4740483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9517074" y="2971800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96.43%</a:t>
            </a:r>
            <a:endParaRPr lang="en-US" sz="800"/>
          </a:p>
        </p:txBody>
      </p:sp>
      <p:sp>
        <p:nvSpPr>
          <p:cNvPr id="19" name="Text 19"/>
          <p:cNvSpPr txBox="1"/>
          <p:nvPr/>
        </p:nvSpPr>
        <p:spPr>
          <a:xfrm>
            <a:off x="822960" y="3712464"/>
            <a:ext cx="3641140" cy="70408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b="0">
                <a:solidFill>
                  <a:srgbClr val="5B6573"/>
                </a:solidFill>
                <a:latin typeface="Aptos"/>
              </a:rPr>
              <a:t>Dirty + denoise</a:t>
            </a:r>
            <a:endParaRPr lang="en-US" sz="760"/>
          </a:p>
        </p:txBody>
      </p:sp>
      <p:sp>
        <p:nvSpPr>
          <p:cNvPr id="20" name="Shape 20"/>
          <p:cNvSpPr/>
          <p:nvPr/>
        </p:nvSpPr>
        <p:spPr>
          <a:xfrm>
            <a:off x="4509820" y="3758184"/>
            <a:ext cx="4915814" cy="109728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4509820" y="3758184"/>
            <a:ext cx="3639668" cy="109728"/>
          </a:xfrm>
          <a:prstGeom prst="rect">
            <a:avLst/>
          </a:prstGeom>
          <a:solidFill>
            <a:srgbClr val="D89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9517074" y="3703320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00" b="1">
                <a:solidFill>
                  <a:srgbClr val="20242A"/>
                </a:solidFill>
                <a:latin typeface="Aptos"/>
              </a:rPr>
              <a:t>74.04%</a:t>
            </a:r>
            <a:endParaRPr lang="en-US" sz="800"/>
          </a:p>
        </p:txBody>
      </p:sp>
      <p:sp>
        <p:nvSpPr>
          <p:cNvPr id="23" name="Shape 23"/>
          <p:cNvSpPr/>
          <p:nvPr/>
        </p:nvSpPr>
        <p:spPr>
          <a:xfrm>
            <a:off x="822960" y="4617720"/>
            <a:ext cx="10241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1005840" y="480060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0">
                <a:solidFill>
                  <a:srgbClr val="20242A"/>
                </a:solidFill>
                <a:latin typeface="Aptos"/>
              </a:rPr>
              <a:t>B Transformer remains the strongest standalone recognizer (98.47%).</a:t>
            </a:r>
            <a:endParaRPr lang="en-US" sz="1200"/>
          </a:p>
          <a:p>
            <a:pPr algn="l"/>
            <a:r>
              <a:rPr lang="en-US" sz="1200" b="0">
                <a:solidFill>
                  <a:srgbClr val="20242A"/>
                </a:solidFill>
                <a:latin typeface="Aptos"/>
              </a:rPr>
              <a:t>C module is close on clean/normal fixed-position recognition (96.44%).</a:t>
            </a:r>
            <a:endParaRPr lang="en-US" sz="1200"/>
          </a:p>
          <a:p>
            <a:pPr algn="l"/>
            <a:r>
              <a:rPr lang="en-US" sz="1200" b="0">
                <a:solidFill>
                  <a:srgbClr val="20242A"/>
                </a:solidFill>
                <a:latin typeface="Aptos"/>
              </a:rPr>
              <a:t>The chained setup shows restoration is most valuable on dirty inputs, where M1 boosts downstream sequence accuracy to 74.04%.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1">
                <a:solidFill>
                  <a:srgbClr val="20242A"/>
                </a:solidFill>
                <a:latin typeface="Aptos"/>
              </a:rPr>
              <a:t>Denoised CNN previews - dirty to normal</a:t>
            </a:r>
            <a:endParaRPr lang="en-US" sz="2400"/>
          </a:p>
        </p:txBody>
      </p:sp>
      <p:sp>
        <p:nvSpPr>
          <p:cNvPr id="4" name="Text 4"/>
          <p:cNvSpPr txBox="1"/>
          <p:nvPr/>
        </p:nvSpPr>
        <p:spPr>
          <a:xfrm>
            <a:off x="8961120" y="347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900" b="0">
                <a:solidFill>
                  <a:srgbClr val="5B6573"/>
                </a:solidFill>
                <a:latin typeface="Aptos"/>
              </a:rPr>
              <a:t>before / after / difference previews</a:t>
            </a:r>
            <a:endParaRPr lang="en-US" sz="900"/>
          </a:p>
        </p:txBody>
      </p:sp>
      <p:sp>
        <p:nvSpPr>
          <p:cNvPr id="5" name="Shape 5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594360" y="1024128"/>
            <a:ext cx="525780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pic>
        <p:nvPicPr>
          <p:cNvPr id="7" name="M1_dirty_to_normal_test_preview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2375065" y="1115568"/>
            <a:ext cx="1696389" cy="1764792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704088" y="2944368"/>
            <a:ext cx="503834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800" b="1">
                <a:solidFill>
                  <a:srgbClr val="5B6573"/>
                </a:solidFill>
                <a:latin typeface="Aptos"/>
              </a:rPr>
              <a:t>M1 dirty to normal</a:t>
            </a:r>
            <a:endParaRPr lang="en-US" sz="800"/>
          </a:p>
        </p:txBody>
      </p:sp>
      <p:sp>
        <p:nvSpPr>
          <p:cNvPr id="9" name="Shape 9"/>
          <p:cNvSpPr/>
          <p:nvPr/>
        </p:nvSpPr>
        <p:spPr>
          <a:xfrm>
            <a:off x="6172200" y="1024128"/>
            <a:ext cx="525780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pic>
        <p:nvPicPr>
          <p:cNvPr id="10" name="M2_dirty_to_normal_test_preview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952905" y="1115568"/>
            <a:ext cx="1696389" cy="1764792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6281928" y="2944368"/>
            <a:ext cx="503834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800" b="1">
                <a:solidFill>
                  <a:srgbClr val="5B6573"/>
                </a:solidFill>
                <a:latin typeface="Aptos"/>
              </a:rPr>
              <a:t>M2 dirty to normal</a:t>
            </a:r>
            <a:endParaRPr lang="en-US" sz="800"/>
          </a:p>
        </p:txBody>
      </p:sp>
      <p:sp>
        <p:nvSpPr>
          <p:cNvPr id="12" name="Shape 12"/>
          <p:cNvSpPr/>
          <p:nvPr/>
        </p:nvSpPr>
        <p:spPr>
          <a:xfrm>
            <a:off x="594360" y="3703320"/>
            <a:ext cx="525780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pic>
        <p:nvPicPr>
          <p:cNvPr id="13" name="M3_dirty_to_normal_test_preview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375065" y="3794760"/>
            <a:ext cx="1696389" cy="1764792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704088" y="5623560"/>
            <a:ext cx="503834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800" b="1">
                <a:solidFill>
                  <a:srgbClr val="5B6573"/>
                </a:solidFill>
                <a:latin typeface="Aptos"/>
              </a:rPr>
              <a:t>M3 dirty to normal</a:t>
            </a:r>
            <a:endParaRPr lang="en-US" sz="800"/>
          </a:p>
        </p:txBody>
      </p:sp>
      <p:sp>
        <p:nvSpPr>
          <p:cNvPr id="15" name="Shape 15"/>
          <p:cNvSpPr/>
          <p:nvPr/>
        </p:nvSpPr>
        <p:spPr>
          <a:xfrm>
            <a:off x="6172200" y="3703320"/>
            <a:ext cx="525780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pic>
        <p:nvPicPr>
          <p:cNvPr id="16" name="M4_dirty_to_normal_test_preview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7952905" y="3794760"/>
            <a:ext cx="1696389" cy="1764792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6281928" y="5623560"/>
            <a:ext cx="503834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800" b="1">
                <a:solidFill>
                  <a:srgbClr val="5B6573"/>
                </a:solidFill>
                <a:latin typeface="Aptos"/>
              </a:rPr>
              <a:t>M4 dirty to normal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02920" y="2926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1">
                <a:solidFill>
                  <a:srgbClr val="20242A"/>
                </a:solidFill>
                <a:latin typeface="Aptos"/>
              </a:rPr>
              <a:t>Denoised CNN previews - normal to clean</a:t>
            </a:r>
            <a:endParaRPr lang="en-US" sz="2400"/>
          </a:p>
        </p:txBody>
      </p:sp>
      <p:sp>
        <p:nvSpPr>
          <p:cNvPr id="4" name="Text 4"/>
          <p:cNvSpPr txBox="1"/>
          <p:nvPr/>
        </p:nvSpPr>
        <p:spPr>
          <a:xfrm>
            <a:off x="8961120" y="347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900" b="0">
                <a:solidFill>
                  <a:srgbClr val="5B6573"/>
                </a:solidFill>
                <a:latin typeface="Aptos"/>
              </a:rPr>
              <a:t>before / after / difference previews</a:t>
            </a:r>
            <a:endParaRPr lang="en-US" sz="900"/>
          </a:p>
        </p:txBody>
      </p:sp>
      <p:sp>
        <p:nvSpPr>
          <p:cNvPr id="5" name="Shape 5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594360" y="1024128"/>
            <a:ext cx="525780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pic>
        <p:nvPicPr>
          <p:cNvPr id="7" name="M5_normal_to_clean_test_preview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2375065" y="1115568"/>
            <a:ext cx="1696389" cy="1764792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704088" y="2944368"/>
            <a:ext cx="503834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800" b="1">
                <a:solidFill>
                  <a:srgbClr val="5B6573"/>
                </a:solidFill>
                <a:latin typeface="Aptos"/>
              </a:rPr>
              <a:t>M5 normal to clean</a:t>
            </a:r>
            <a:endParaRPr lang="en-US" sz="800"/>
          </a:p>
        </p:txBody>
      </p:sp>
      <p:sp>
        <p:nvSpPr>
          <p:cNvPr id="9" name="Shape 9"/>
          <p:cNvSpPr/>
          <p:nvPr/>
        </p:nvSpPr>
        <p:spPr>
          <a:xfrm>
            <a:off x="6172200" y="1024128"/>
            <a:ext cx="525780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pic>
        <p:nvPicPr>
          <p:cNvPr id="10" name="M6_normal_to_clean_test_preview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952905" y="1115568"/>
            <a:ext cx="1696389" cy="1764792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6281928" y="2944368"/>
            <a:ext cx="503834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800" b="1">
                <a:solidFill>
                  <a:srgbClr val="5B6573"/>
                </a:solidFill>
                <a:latin typeface="Aptos"/>
              </a:rPr>
              <a:t>M6 normal to clean</a:t>
            </a:r>
            <a:endParaRPr lang="en-US" sz="800"/>
          </a:p>
        </p:txBody>
      </p:sp>
      <p:sp>
        <p:nvSpPr>
          <p:cNvPr id="12" name="Shape 12"/>
          <p:cNvSpPr/>
          <p:nvPr/>
        </p:nvSpPr>
        <p:spPr>
          <a:xfrm>
            <a:off x="594360" y="3703320"/>
            <a:ext cx="525780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pic>
        <p:nvPicPr>
          <p:cNvPr id="13" name="M7_normal_to_clean_test_preview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375065" y="3794760"/>
            <a:ext cx="1696389" cy="1764792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704088" y="5623560"/>
            <a:ext cx="503834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800" b="1">
                <a:solidFill>
                  <a:srgbClr val="5B6573"/>
                </a:solidFill>
                <a:latin typeface="Aptos"/>
              </a:rPr>
              <a:t>M7 normal to clean</a:t>
            </a:r>
            <a:endParaRPr lang="en-US" sz="800"/>
          </a:p>
        </p:txBody>
      </p:sp>
      <p:sp>
        <p:nvSpPr>
          <p:cNvPr id="15" name="Shape 15"/>
          <p:cNvSpPr/>
          <p:nvPr/>
        </p:nvSpPr>
        <p:spPr>
          <a:xfrm>
            <a:off x="6172200" y="3703320"/>
            <a:ext cx="525780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</p:spPr>
        <p:txBody>
          <a:bodyPr/>
          <a:lstStyle/>
          <a:p/>
        </p:txBody>
      </p:sp>
      <p:pic>
        <p:nvPicPr>
          <p:cNvPr id="16" name="M8_normal_to_clean_test_preview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7952905" y="3794760"/>
            <a:ext cx="1696389" cy="1764792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6281928" y="5623560"/>
            <a:ext cx="503834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800" b="1">
                <a:solidFill>
                  <a:srgbClr val="5B6573"/>
                </a:solidFill>
                <a:latin typeface="Aptos"/>
              </a:rPr>
              <a:t>M8 normal to clean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Theme">
  <a:themeElements>
    <a:clrScheme name="Codex">
      <a:dk1>
        <a:srgbClr val="20242A"/>
      </a:dk1>
      <a:lt1>
        <a:srgbClr val="FFFFFF"/>
      </a:lt1>
      <a:dk2>
        <a:srgbClr val="5B6573"/>
      </a:dk2>
      <a:lt2>
        <a:srgbClr val="F7F8FA"/>
      </a:lt2>
      <a:accent1>
        <a:srgbClr val="168A8F"/>
      </a:accent1>
      <a:accent2>
        <a:srgbClr val="2F67B1"/>
      </a:accent2>
      <a:accent3>
        <a:srgbClr val="2E7D32"/>
      </a:accent3>
      <a:accent4>
        <a:srgbClr val="D89000"/>
      </a:accent4>
      <a:accent5>
        <a:srgbClr val="6E5AA8"/>
      </a:accent5>
      <a:accent6>
        <a:srgbClr val="B84A39"/>
      </a:accent6>
      <a:hlink>
        <a:srgbClr val="2F67B1"/>
      </a:hlink>
      <a:folHlink>
        <a:srgbClr val="6E5AA8"/>
      </a:folHlink>
    </a:clrScheme>
    <a:fontScheme name="Aptos">
      <a:majorFont>
        <a:latin typeface="Aptos"/>
      </a:majorFont>
      <a:minorFont>
        <a:latin typeface="Aptos"/>
      </a:minorFont>
    </a:fontScheme>
    <a:fmtScheme name="Codex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CAPTCHA Results Appendix</dc:title>
  <dc:creator>Codex</dc:creator>
  <cp:lastModifiedBy>Codex</cp:lastModifiedBy>
  <dcterms:created xsi:type="dcterms:W3CDTF">2026-06-08T13:07:14+00:00</dcterms:created>
  <dcterms:modified xsi:type="dcterms:W3CDTF">2026-06-08T13:07:14+00:00</dcterms:modified>
</cp:coreProperties>
</file>